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257" r:id="rId3"/>
    <p:sldId id="259" r:id="rId5"/>
    <p:sldId id="310" r:id="rId6"/>
    <p:sldId id="291" r:id="rId7"/>
    <p:sldId id="281" r:id="rId8"/>
    <p:sldId id="265" r:id="rId9"/>
    <p:sldId id="272" r:id="rId10"/>
    <p:sldId id="274" r:id="rId11"/>
    <p:sldId id="309" r:id="rId12"/>
    <p:sldId id="302" r:id="rId13"/>
    <p:sldId id="303" r:id="rId14"/>
    <p:sldId id="304" r:id="rId15"/>
    <p:sldId id="305" r:id="rId16"/>
    <p:sldId id="262" r:id="rId17"/>
  </p:sldIdLst>
  <p:sldSz cx="12192000" cy="6858000"/>
  <p:notesSz cx="6858000" cy="9144000"/>
  <p:embeddedFontLst>
    <p:embeddedFont>
      <p:font typeface="Segoe UI" panose="020B0502040204020203" pitchFamily="34" charset="0"/>
      <p:regular r:id="rId22"/>
    </p:embeddedFont>
    <p:embeddedFont>
      <p:font typeface="Calibri" panose="020F0502020204030204" charset="0"/>
      <p:regular r:id="rId23"/>
    </p:embeddedFont>
  </p:embeddedFontLst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gs" Target="tags/tag177.xml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image" Target="../media/image2.png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image" Target="../media/image1.png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image" Target="../media/image4.png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image" Target="../media/image5.png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0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image" Target="../media/image6.png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image" Target="../media/image7.png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0" Type="http://schemas.openxmlformats.org/officeDocument/2006/relationships/tags" Target="../tags/tag101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image" Target="../media/image8.png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image" Target="../media/image4.png"/><Relationship Id="rId2" Type="http://schemas.openxmlformats.org/officeDocument/2006/relationships/tags" Target="../tags/tag110.xml"/><Relationship Id="rId12" Type="http://schemas.openxmlformats.org/officeDocument/2006/relationships/tags" Target="../tags/tag119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image" Target="../media/image9.png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0" Type="http://schemas.openxmlformats.org/officeDocument/2006/relationships/tags" Target="../tags/tag12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>
          <a:gsLst>
            <a:gs pos="100000">
              <a:schemeClr val="accent1">
                <a:lumMod val="50000"/>
              </a:schemeClr>
            </a:gs>
            <a:gs pos="60000">
              <a:schemeClr val="accent1">
                <a:lumMod val="50000"/>
              </a:schemeClr>
            </a:gs>
            <a:gs pos="35000">
              <a:schemeClr val="accent1">
                <a:lumMod val="50000"/>
              </a:schemeClr>
            </a:gs>
            <a:gs pos="0">
              <a:schemeClr val="accent1">
                <a:lumMod val="5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-1" y="-1"/>
            <a:ext cx="3099987" cy="3099987"/>
          </a:xfrm>
          <a:prstGeom prst="rect">
            <a:avLst/>
          </a:prstGeom>
          <a:gradFill flip="none" rotWithShape="1">
            <a:gsLst>
              <a:gs pos="84000">
                <a:schemeClr val="accent1">
                  <a:lumMod val="50000"/>
                  <a:alpha val="0"/>
                </a:schemeClr>
              </a:gs>
              <a:gs pos="0">
                <a:schemeClr val="accent6">
                  <a:alpha val="52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1325880" y="-1"/>
            <a:ext cx="9540240" cy="6858002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 rot="10800000">
            <a:off x="9092013" y="3758013"/>
            <a:ext cx="3099987" cy="3099987"/>
          </a:xfrm>
          <a:prstGeom prst="rect">
            <a:avLst/>
          </a:prstGeom>
          <a:gradFill flip="none" rotWithShape="1">
            <a:gsLst>
              <a:gs pos="84000">
                <a:schemeClr val="accent1">
                  <a:lumMod val="50000"/>
                  <a:alpha val="0"/>
                </a:schemeClr>
              </a:gs>
              <a:gs pos="0">
                <a:schemeClr val="accent6">
                  <a:alpha val="52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 userDrawn="1">
            <p:custDataLst>
              <p:tags r:id="rId6"/>
            </p:custDataLst>
          </p:nvPr>
        </p:nvCxnSpPr>
        <p:spPr>
          <a:xfrm>
            <a:off x="4706112" y="2164080"/>
            <a:ext cx="0" cy="31699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7"/>
            </p:custDataLst>
          </p:nvPr>
        </p:nvCxnSpPr>
        <p:spPr>
          <a:xfrm>
            <a:off x="6041136" y="2164080"/>
            <a:ext cx="0" cy="31699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>
            <p:custDataLst>
              <p:tags r:id="rId8"/>
            </p:custDataLst>
          </p:nvPr>
        </p:nvCxnSpPr>
        <p:spPr>
          <a:xfrm>
            <a:off x="7437120" y="2164080"/>
            <a:ext cx="0" cy="31699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2409026" y="2819632"/>
            <a:ext cx="7373947" cy="1015663"/>
          </a:xfrm>
        </p:spPr>
        <p:txBody>
          <a:bodyPr lIns="90000" tIns="46800" rIns="90000" bIns="0" anchor="t" anchorCtr="0">
            <a:normAutofit/>
          </a:bodyPr>
          <a:lstStyle>
            <a:lvl1pPr algn="ctr">
              <a:defRPr sz="6000" spc="600">
                <a:solidFill>
                  <a:schemeClr val="bg1"/>
                </a:solidFill>
                <a:latin typeface="汉仪旗黑-85S" panose="00020600040101010101" pitchFamily="18" charset="-122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0"/>
            </p:custDataLst>
          </p:nvPr>
        </p:nvSpPr>
        <p:spPr>
          <a:xfrm>
            <a:off x="3008741" y="3922261"/>
            <a:ext cx="6174517" cy="958660"/>
          </a:xfrm>
        </p:spPr>
        <p:txBody>
          <a:bodyPr lIns="90000" tIns="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800" u="none" strike="noStrike" kern="1200" cap="none" spc="200" normalizeH="0" baseline="0">
                <a:solidFill>
                  <a:schemeClr val="accent6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bg>
      <p:bgPr>
        <a:gradFill>
          <a:gsLst>
            <a:gs pos="100000">
              <a:schemeClr val="accent1">
                <a:lumMod val="50000"/>
              </a:schemeClr>
            </a:gs>
            <a:gs pos="60000">
              <a:schemeClr val="accent1">
                <a:lumMod val="50000"/>
              </a:schemeClr>
            </a:gs>
            <a:gs pos="35000">
              <a:schemeClr val="accent1">
                <a:lumMod val="50000"/>
              </a:schemeClr>
            </a:gs>
            <a:gs pos="0">
              <a:schemeClr val="accent1">
                <a:lumMod val="5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>
            <p:custDataLst>
              <p:tags r:id="rId5"/>
            </p:custDataLst>
          </p:nvPr>
        </p:nvSpPr>
        <p:spPr>
          <a:xfrm>
            <a:off x="-1" y="-1"/>
            <a:ext cx="3099987" cy="3099987"/>
          </a:xfrm>
          <a:prstGeom prst="rect">
            <a:avLst/>
          </a:prstGeom>
          <a:gradFill flip="none" rotWithShape="1">
            <a:gsLst>
              <a:gs pos="83000">
                <a:schemeClr val="accent1">
                  <a:lumMod val="50000"/>
                  <a:alpha val="0"/>
                </a:schemeClr>
              </a:gs>
              <a:gs pos="0">
                <a:schemeClr val="accent6">
                  <a:alpha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 rotWithShape="1">
          <a:blip r:embed="rId7"/>
          <a:srcRect/>
          <a:stretch>
            <a:fillRect/>
          </a:stretch>
        </p:blipFill>
        <p:spPr>
          <a:xfrm>
            <a:off x="5462585" y="1752600"/>
            <a:ext cx="6729415" cy="51054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1233794" y="3297196"/>
            <a:ext cx="4570106" cy="785343"/>
          </a:xfrm>
        </p:spPr>
        <p:txBody>
          <a:bodyPr lIns="90000" tIns="46800" rIns="90000" bIns="0" anchor="t" anchorCtr="0">
            <a:normAutofit/>
          </a:bodyPr>
          <a:lstStyle>
            <a:lvl1pPr>
              <a:defRPr sz="4000" u="none" strike="noStrike" kern="1200" cap="none" spc="300" normalizeH="0">
                <a:solidFill>
                  <a:schemeClr val="bg1"/>
                </a:solidFill>
                <a:uFillTx/>
                <a:latin typeface="汉仪旗黑-85S" panose="00020600040101010101" pitchFamily="18" charset="-122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1233794" y="4162793"/>
            <a:ext cx="5014606" cy="785343"/>
          </a:xfrm>
        </p:spPr>
        <p:txBody>
          <a:bodyPr lIns="90000" tIns="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bg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000" tIns="46800" rIns="90000" bIns="468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gradFill>
          <a:gsLst>
            <a:gs pos="100000">
              <a:schemeClr val="accent1">
                <a:lumMod val="50000"/>
              </a:schemeClr>
            </a:gs>
            <a:gs pos="60000">
              <a:schemeClr val="accent1">
                <a:lumMod val="50000"/>
              </a:schemeClr>
            </a:gs>
            <a:gs pos="35000">
              <a:schemeClr val="accent1">
                <a:lumMod val="50000"/>
              </a:schemeClr>
            </a:gs>
            <a:gs pos="0">
              <a:schemeClr val="accent1">
                <a:lumMod val="5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-1" y="-1"/>
            <a:ext cx="3099987" cy="3099987"/>
          </a:xfrm>
          <a:prstGeom prst="rect">
            <a:avLst/>
          </a:prstGeom>
          <a:gradFill flip="none" rotWithShape="1">
            <a:gsLst>
              <a:gs pos="84000">
                <a:schemeClr val="accent1">
                  <a:lumMod val="50000"/>
                  <a:alpha val="0"/>
                </a:schemeClr>
              </a:gs>
              <a:gs pos="0">
                <a:schemeClr val="accent6">
                  <a:alpha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0000" tIns="46800" rIns="9000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汉仪旗黑-85S" panose="00020600040101010101" pitchFamily="18" charset="-122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 rotWithShape="1">
          <a:blip r:embed="rId8"/>
          <a:srcRect/>
          <a:stretch>
            <a:fillRect/>
          </a:stretch>
        </p:blipFill>
        <p:spPr>
          <a:xfrm>
            <a:off x="7510630" y="3306388"/>
            <a:ext cx="4681370" cy="35516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lIns="90000" tIns="46800" rIns="90000" bIns="46800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 lIns="90000" tIns="46800" rIns="90000" bIns="4680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gradFill>
          <a:gsLst>
            <a:gs pos="100000">
              <a:schemeClr val="accent1">
                <a:lumMod val="50000"/>
              </a:schemeClr>
            </a:gs>
            <a:gs pos="60000">
              <a:schemeClr val="accent1">
                <a:lumMod val="50000"/>
              </a:schemeClr>
            </a:gs>
            <a:gs pos="35000">
              <a:schemeClr val="accent1">
                <a:lumMod val="50000"/>
              </a:schemeClr>
            </a:gs>
            <a:gs pos="0">
              <a:schemeClr val="accent1">
                <a:lumMod val="5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-1" y="-1"/>
            <a:ext cx="3099987" cy="3099987"/>
          </a:xfrm>
          <a:prstGeom prst="rect">
            <a:avLst/>
          </a:prstGeom>
          <a:gradFill flip="none" rotWithShape="1">
            <a:gsLst>
              <a:gs pos="84000">
                <a:schemeClr val="accent1">
                  <a:lumMod val="50000"/>
                  <a:alpha val="0"/>
                </a:schemeClr>
              </a:gs>
              <a:gs pos="0">
                <a:schemeClr val="accent6">
                  <a:alpha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1325880" y="-1"/>
            <a:ext cx="9540240" cy="6858002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 rot="10800000">
            <a:off x="9092013" y="3758013"/>
            <a:ext cx="3099987" cy="3099987"/>
          </a:xfrm>
          <a:prstGeom prst="rect">
            <a:avLst/>
          </a:prstGeom>
          <a:gradFill flip="none" rotWithShape="1">
            <a:gsLst>
              <a:gs pos="84000">
                <a:schemeClr val="accent1">
                  <a:lumMod val="50000"/>
                  <a:alpha val="0"/>
                </a:schemeClr>
              </a:gs>
              <a:gs pos="0">
                <a:schemeClr val="accent6">
                  <a:alpha val="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 userDrawn="1">
            <p:custDataLst>
              <p:tags r:id="rId6"/>
            </p:custDataLst>
          </p:nvPr>
        </p:nvCxnSpPr>
        <p:spPr>
          <a:xfrm>
            <a:off x="4706112" y="2164080"/>
            <a:ext cx="0" cy="31699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>
            <p:custDataLst>
              <p:tags r:id="rId7"/>
            </p:custDataLst>
          </p:nvPr>
        </p:nvCxnSpPr>
        <p:spPr>
          <a:xfrm>
            <a:off x="6041136" y="2164080"/>
            <a:ext cx="0" cy="31699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>
            <p:custDataLst>
              <p:tags r:id="rId8"/>
            </p:custDataLst>
          </p:nvPr>
        </p:nvCxnSpPr>
        <p:spPr>
          <a:xfrm>
            <a:off x="7437120" y="2164080"/>
            <a:ext cx="0" cy="31699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2409027" y="2819632"/>
            <a:ext cx="7373946" cy="1015663"/>
          </a:xfrm>
        </p:spPr>
        <p:txBody>
          <a:bodyPr vert="horz" lIns="90000" tIns="46800" rIns="90000" bIns="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0" i="0" u="none" strike="noStrike" kern="1200" cap="none" spc="600" normalizeH="0" baseline="0" noProof="1" dirty="0">
                <a:solidFill>
                  <a:schemeClr val="bg1"/>
                </a:solidFill>
                <a:uFillTx/>
                <a:latin typeface="汉仪旗黑-85S" panose="00020600040101010101" pitchFamily="18" charset="-122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3008313" y="3895725"/>
            <a:ext cx="6175375" cy="958850"/>
          </a:xfrm>
        </p:spPr>
        <p:txBody>
          <a:bodyPr lIns="90000" tIns="0" rIns="90000" bIns="46800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10782300" y="5788504"/>
            <a:ext cx="1409700" cy="106949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lIns="90000" tIns="46800" rIns="90000" bIns="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gradFill>
            <a:gsLst>
              <a:gs pos="100000">
                <a:schemeClr val="accent1">
                  <a:lumMod val="50000"/>
                </a:schemeClr>
              </a:gs>
              <a:gs pos="75000">
                <a:schemeClr val="accent1">
                  <a:lumMod val="75000"/>
                </a:schemeClr>
              </a:gs>
              <a:gs pos="35000">
                <a:schemeClr val="accent1">
                  <a:lumMod val="50000"/>
                </a:schemeClr>
              </a:gs>
              <a:gs pos="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 rot="10800000">
            <a:off x="0" y="-4077"/>
            <a:ext cx="2014154" cy="152807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10177846" y="5329923"/>
            <a:ext cx="2014154" cy="152807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281600" y="1249200"/>
            <a:ext cx="9626400" cy="723600"/>
          </a:xfrm>
        </p:spPr>
        <p:txBody>
          <a:bodyPr lIns="90000" tIns="46800" rIns="90000" bIns="0" anchor="ctr"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1281113" y="2163600"/>
            <a:ext cx="9626600" cy="3445200"/>
          </a:xfrm>
        </p:spPr>
        <p:txBody>
          <a:bodyPr lIns="90000" tIns="46800" rIns="90000" bIns="46800"/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gradFill>
            <a:gsLst>
              <a:gs pos="100000">
                <a:schemeClr val="accent1">
                  <a:lumMod val="50000"/>
                </a:schemeClr>
              </a:gs>
              <a:gs pos="59000">
                <a:schemeClr val="accent1">
                  <a:lumMod val="75000"/>
                </a:schemeClr>
              </a:gs>
              <a:gs pos="35000">
                <a:schemeClr val="accent1">
                  <a:lumMod val="75000"/>
                </a:schemeClr>
              </a:gs>
              <a:gs pos="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 flipH="1">
            <a:off x="0" y="5648325"/>
            <a:ext cx="1594469" cy="12096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lIns="90000" tIns="46800" rIns="90000" bIns="0" anchor="ctr">
            <a:normAutofit/>
          </a:bodyPr>
          <a:lstStyle>
            <a:lvl1pPr>
              <a:defRPr sz="3600"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 lIns="90000" tIns="46800" rIns="90000" bIns="46800"/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 lIns="90000" tIns="46800" rIns="90000" bIns="46800"/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gradFill>
            <a:gsLst>
              <a:gs pos="100000">
                <a:schemeClr val="accent1"/>
              </a:gs>
              <a:gs pos="60000">
                <a:schemeClr val="accent1">
                  <a:lumMod val="75000"/>
                </a:schemeClr>
              </a:gs>
              <a:gs pos="35000">
                <a:schemeClr val="accent1">
                  <a:lumMod val="75000"/>
                </a:schemeClr>
              </a:gs>
              <a:gs pos="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 rot="10800000">
            <a:off x="0" y="-4078"/>
            <a:ext cx="1828800" cy="138745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lIns="90000" tIns="46800" rIns="90000" bIns="0" anchor="ctr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 lIns="90000" tIns="46800" rIns="90000" bIns="46800"/>
          <a:lstStyle>
            <a:lvl1pPr algn="ctr"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 lIns="90000" tIns="46800" rIns="90000" bIns="46800"/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gradFill>
            <a:gsLst>
              <a:gs pos="100000">
                <a:schemeClr val="accent1">
                  <a:lumMod val="50000"/>
                </a:schemeClr>
              </a:gs>
              <a:gs pos="60000">
                <a:schemeClr val="accent1">
                  <a:lumMod val="75000"/>
                </a:schemeClr>
              </a:gs>
              <a:gs pos="35000">
                <a:schemeClr val="accent1">
                  <a:lumMod val="75000"/>
                </a:schemeClr>
              </a:gs>
              <a:gs pos="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10678718" y="5709920"/>
            <a:ext cx="1513281" cy="11480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800" y="669600"/>
            <a:ext cx="10976400" cy="565200"/>
          </a:xfrm>
        </p:spPr>
        <p:txBody>
          <a:bodyPr lIns="90000" tIns="46800" rIns="90000" bIns="0" anchor="ctr">
            <a:normAutofit/>
          </a:bodyPr>
          <a:lstStyle>
            <a:lvl1pPr algn="ctr">
              <a:defRPr sz="3200"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37" y="1681200"/>
            <a:ext cx="10990800" cy="3211200"/>
          </a:xfrm>
        </p:spPr>
        <p:txBody>
          <a:bodyPr lIns="90000" tIns="46800" rIns="90000" bIns="46800"/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4000" y="5180400"/>
            <a:ext cx="11001600" cy="1011600"/>
          </a:xfrm>
        </p:spPr>
        <p:txBody>
          <a:bodyPr lIns="90000" tIns="46800" rIns="90000" bIns="46800"/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10782300" y="5788504"/>
            <a:ext cx="1409700" cy="1069496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gradFill>
            <a:gsLst>
              <a:gs pos="100000">
                <a:schemeClr val="accent1">
                  <a:lumMod val="50000"/>
                </a:schemeClr>
              </a:gs>
              <a:gs pos="60000">
                <a:schemeClr val="accent1">
                  <a:lumMod val="75000"/>
                </a:schemeClr>
              </a:gs>
              <a:gs pos="35000">
                <a:schemeClr val="accent1">
                  <a:lumMod val="75000"/>
                </a:schemeClr>
              </a:gs>
              <a:gs pos="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 lIns="90000" tIns="46800" rIns="90000" bIns="0">
            <a:normAutofit/>
          </a:bodyPr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 lIns="90000" tIns="46800" rIns="90000" bIns="46800"/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 lIns="90000" tIns="46800" rIns="90000" bIns="46800"/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 lIns="90000" tIns="46800" rIns="90000" bIns="46800"/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 lIns="90000" tIns="46800" rIns="90000" bIns="46800"/>
          <a:lstStyle>
            <a:lvl1pPr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gradFill>
            <a:gsLst>
              <a:gs pos="100000">
                <a:schemeClr val="accent1">
                  <a:lumMod val="50000"/>
                </a:schemeClr>
              </a:gs>
              <a:gs pos="74000">
                <a:schemeClr val="accent1">
                  <a:lumMod val="75000"/>
                </a:schemeClr>
              </a:gs>
              <a:gs pos="35000">
                <a:schemeClr val="accent1">
                  <a:lumMod val="75000"/>
                </a:schemeClr>
              </a:gs>
              <a:gs pos="0">
                <a:schemeClr val="accent1">
                  <a:lumMod val="50000"/>
                </a:schemeClr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>
            <a:off x="9045962" y="4471198"/>
            <a:ext cx="3146037" cy="23868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4"/>
          <a:srcRect/>
          <a:stretch>
            <a:fillRect/>
          </a:stretch>
        </p:blipFill>
        <p:spPr>
          <a:xfrm rot="10800000">
            <a:off x="0" y="0"/>
            <a:ext cx="3146037" cy="23868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522800" y="1339200"/>
            <a:ext cx="9144000" cy="2386800"/>
          </a:xfrm>
        </p:spPr>
        <p:txBody>
          <a:bodyPr lIns="90000" tIns="46800" rIns="90000" bIns="0" anchor="b">
            <a:normAutofit/>
          </a:bodyPr>
          <a:lstStyle>
            <a:lvl1pPr algn="ctr">
              <a:defRPr sz="6000"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1522413" y="3862800"/>
            <a:ext cx="9144000" cy="1656000"/>
          </a:xfrm>
        </p:spPr>
        <p:txBody>
          <a:bodyPr lIns="90000" tIns="46800" rIns="90000" bIns="46800"/>
          <a:lstStyle>
            <a:lvl1pPr algn="ctr">
              <a:defRPr baseline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tags" Target="../tags/tag133.xml"/><Relationship Id="rId23" Type="http://schemas.openxmlformats.org/officeDocument/2006/relationships/tags" Target="../tags/tag132.xml"/><Relationship Id="rId22" Type="http://schemas.openxmlformats.org/officeDocument/2006/relationships/tags" Target="../tags/tag131.xml"/><Relationship Id="rId21" Type="http://schemas.openxmlformats.org/officeDocument/2006/relationships/tags" Target="../tags/tag130.xml"/><Relationship Id="rId20" Type="http://schemas.openxmlformats.org/officeDocument/2006/relationships/tags" Target="../tags/tag129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28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/>
          </a:solidFill>
          <a:uFillTx/>
          <a:latin typeface="Arial" panose="020B060402020209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tags" Target="../tags/tag14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tags" Target="../tags/tag15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176.xml"/><Relationship Id="rId3" Type="http://schemas.openxmlformats.org/officeDocument/2006/relationships/image" Target="../media/image10.jpeg"/><Relationship Id="rId2" Type="http://schemas.openxmlformats.org/officeDocument/2006/relationships/tags" Target="../tags/tag175.xml"/><Relationship Id="rId1" Type="http://schemas.openxmlformats.org/officeDocument/2006/relationships/tags" Target="../tags/tag1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3840479" y="1929432"/>
            <a:ext cx="4511040" cy="7683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r>
              <a:rPr lang="en-US" altLang="zh-CN" sz="4400" dirty="0">
                <a:solidFill>
                  <a:schemeClr val="bg1"/>
                </a:solidFill>
                <a:effectLst>
                  <a:outerShdw blurRad="177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2026</a:t>
            </a:r>
            <a:endParaRPr lang="zh-CN" altLang="en-US" sz="4400" dirty="0">
              <a:solidFill>
                <a:schemeClr val="bg1"/>
              </a:solidFill>
              <a:effectLst>
                <a:outerShdw blurRad="177800" dist="635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409026" y="2819632"/>
            <a:ext cx="7373947" cy="1015663"/>
          </a:xfrm>
        </p:spPr>
        <p:txBody>
          <a:bodyPr>
            <a:normAutofit/>
          </a:bodyPr>
          <a:lstStyle/>
          <a:p>
            <a:r>
              <a:rPr lang="zh-TW" altLang="en-US">
                <a:sym typeface="Arial" panose="020B0604020202090204" pitchFamily="34" charset="0"/>
              </a:rPr>
              <a:t>全球半导体展望</a:t>
            </a:r>
            <a:endParaRPr lang="zh-TW" altLang="en-US">
              <a:sym typeface="Arial" panose="020B0604020202090204" pitchFamily="34" charset="0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008741" y="4593456"/>
            <a:ext cx="6174517" cy="958660"/>
          </a:xfrm>
        </p:spPr>
        <p:txBody>
          <a:bodyPr/>
          <a:lstStyle/>
          <a:p>
            <a:r>
              <a:rPr lang="en-US" altLang="zh-CN">
                <a:sym typeface="Arial" panose="020B0604020202090204" pitchFamily="34" charset="0"/>
              </a:rPr>
              <a:t>Leslie Wu 2025.11.11 </a:t>
            </a:r>
            <a:endParaRPr lang="en-US" altLang="zh-CN">
              <a:sym typeface="Arial" panose="020B060402020209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文本框 71"/>
          <p:cNvSpPr txBox="1"/>
          <p:nvPr>
            <p:custDataLst>
              <p:tags r:id="rId1"/>
            </p:custDataLst>
          </p:nvPr>
        </p:nvSpPr>
        <p:spPr>
          <a:xfrm>
            <a:off x="1233794" y="2268989"/>
            <a:ext cx="3643006" cy="10156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6000" b="1" spc="150" dirty="0">
                <a:solidFill>
                  <a:schemeClr val="accent6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PART 01</a:t>
            </a:r>
            <a:endParaRPr lang="en-US" altLang="zh-CN" sz="6000" b="1" spc="150" dirty="0">
              <a:solidFill>
                <a:schemeClr val="accent6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TW" altLang="zh-CN"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台积电</a:t>
            </a:r>
            <a:r>
              <a:rPr lang="en-US" altLang="zh-TW"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26&amp;27</a:t>
            </a:r>
            <a:r>
              <a:rPr lang="zh-TW" altLang="en-US"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展望</a:t>
            </a:r>
            <a:endParaRPr lang="zh-TW" altLang="en-US"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529273" y="518795"/>
            <a:ext cx="10873105" cy="810260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altLang="zh-TW" sz="3200" b="1" spc="150">
                <a:solidFill>
                  <a:schemeClr val="bg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TSMC</a:t>
            </a:r>
            <a:r>
              <a:rPr lang="zh-TW" altLang="zh-CN" sz="3200" b="1" spc="150">
                <a:solidFill>
                  <a:schemeClr val="bg1"/>
                </a:solidFill>
                <a:latin typeface="微软雅黑" charset="0"/>
                <a:ea typeface="微软雅黑" charset="0"/>
                <a:sym typeface="Arial" panose="020B0604020202090204" pitchFamily="34" charset="0"/>
              </a:rPr>
              <a:t>新建工厂进度</a:t>
            </a:r>
            <a:endParaRPr lang="zh-TW" altLang="zh-CN" sz="3200" b="1" spc="150">
              <a:solidFill>
                <a:schemeClr val="bg1"/>
              </a:solidFill>
              <a:latin typeface="微软雅黑" charset="0"/>
              <a:ea typeface="微软雅黑" charset="0"/>
              <a:sym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9590" y="5078095"/>
            <a:ext cx="10872470" cy="12655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备注</a:t>
            </a:r>
            <a:r>
              <a:rPr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:</a:t>
            </a:r>
            <a:endParaRPr kumimoji="0" altLang="zh-TW" sz="1400" b="0" i="0" spc="50" baseline="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德国厂以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28nm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为主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,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主要针对汽车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MCU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，初步产能规划为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40k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，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2024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年底动土，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2028/9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年量产</a:t>
            </a: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各厂实际进度有小部分会跨越不同年分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 , 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本表格不做改动</a:t>
            </a: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90204" pitchFamily="34" charset="0"/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2"/>
            </p:custDataLst>
          </p:nvPr>
        </p:nvGraphicFramePr>
        <p:xfrm>
          <a:off x="529590" y="1412875"/>
          <a:ext cx="10548620" cy="3581400"/>
        </p:xfrm>
        <a:graphic>
          <a:graphicData uri="http://schemas.openxmlformats.org/drawingml/2006/table">
            <a:tbl>
              <a:tblPr/>
              <a:tblGrid>
                <a:gridCol w="1111250"/>
                <a:gridCol w="801370"/>
                <a:gridCol w="950595"/>
                <a:gridCol w="811530"/>
                <a:gridCol w="819150"/>
                <a:gridCol w="751205"/>
                <a:gridCol w="929005"/>
                <a:gridCol w="796290"/>
                <a:gridCol w="840740"/>
                <a:gridCol w="875030"/>
                <a:gridCol w="936625"/>
                <a:gridCol w="925830"/>
              </a:tblGrid>
              <a:tr h="636905"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Fab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Fab18B</a:t>
                      </a:r>
                      <a:b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</a:b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P5~P8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Fab20A</a:t>
                      </a:r>
                      <a:b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</a:b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P1~P4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Fab21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P1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Fab21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P2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Fab21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P3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Fab22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P1~P3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Fab22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P4~P5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Fab23A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Fab23B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Fab24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Fab25A</a:t>
                      </a:r>
                      <a:b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</a:b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P1~P4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</a:tr>
              <a:tr h="309880"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地点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台南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新竹宝山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凤凰城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凤凰城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凤凰城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高雄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高雄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日本熊本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日本熊本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TW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德国</a:t>
                      </a:r>
                      <a:endParaRPr lang="zh-TW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台中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  <a:tr h="308610"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产能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120k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120k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30k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30k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30k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60k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40k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55k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40k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40k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120k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</a:tr>
              <a:tr h="311150"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nodes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3nm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2nm/A16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4nm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3/2nm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TW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A16</a:t>
                      </a:r>
                      <a:endParaRPr lang="en-US" altLang="zh-TW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N2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A16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28/12nm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40~7nm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28/12nm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A14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  <a:tr h="308610"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预计量产时间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2023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2025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2025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2027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2029?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2025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2027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2024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2028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2028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2028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</a:tr>
              <a:tr h="567690"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2024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进度 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3Q 100k</a:t>
                      </a:r>
                      <a:b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量产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P1 20k</a:t>
                      </a:r>
                      <a:b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</a:b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Move in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4Q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风险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试产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土建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4Q 20k</a:t>
                      </a:r>
                      <a:b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</a:b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Move in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土建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4Q 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量产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2024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动土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l" fontAlgn="b"/>
                      <a:endParaRPr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  <a:tr h="569595"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2025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进度 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P8 20k</a:t>
                      </a:r>
                      <a:b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</a:b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Move in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P1+P2 40k</a:t>
                      </a:r>
                      <a:b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</a:b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Move in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量产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封顶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2025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动土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量产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3Q 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封顶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全部建完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土建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2025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动土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2025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动土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</a:tr>
              <a:tr h="568960"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2026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进度 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P3+P4 60k</a:t>
                      </a:r>
                      <a:b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</a:b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Move in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 30k</a:t>
                      </a:r>
                      <a:b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</a:b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Move in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土建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0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2Q 20k</a:t>
                      </a:r>
                      <a:b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</a:b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Move in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0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封顶</a:t>
                      </a:r>
                      <a:endParaRPr lang="zh-CN" altLang="en-US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0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0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659765" y="323215"/>
            <a:ext cx="10873105" cy="726440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altLang="zh-TW" sz="32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TSMC </a:t>
            </a:r>
            <a:r>
              <a:rPr lang="zh-TW" altLang="en-US" sz="3200" b="1" spc="150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制程营收占比变化</a:t>
            </a:r>
            <a:endParaRPr lang="zh-TW" altLang="en-US" sz="3200" b="1" spc="15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57250" y="5835650"/>
            <a:ext cx="8844915" cy="8559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备注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1: 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本模型为各制程占总营收的比例，与台积电官方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只计算制程销售占比口径不同，</a:t>
            </a: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本模型包含先进封装以及其他业务的总营收，先进制程的占比会略低于官方只考虑制程的占比</a:t>
            </a: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857250" y="1135380"/>
          <a:ext cx="9408795" cy="4587240"/>
        </p:xfrm>
        <a:graphic>
          <a:graphicData uri="http://schemas.openxmlformats.org/drawingml/2006/table">
            <a:tbl>
              <a:tblPr/>
              <a:tblGrid>
                <a:gridCol w="990600"/>
                <a:gridCol w="666750"/>
                <a:gridCol w="666750"/>
                <a:gridCol w="676910"/>
                <a:gridCol w="965200"/>
                <a:gridCol w="803910"/>
                <a:gridCol w="755015"/>
                <a:gridCol w="722630"/>
                <a:gridCol w="1096645"/>
                <a:gridCol w="666750"/>
                <a:gridCol w="730885"/>
                <a:gridCol w="666750"/>
              </a:tblGrid>
              <a:tr h="345440">
                <a:tc gridSpan="4">
                  <a:txBody>
                    <a:bodyPr/>
                    <a:p>
                      <a:pPr algn="l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各工艺节点营收 （成熟制程）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algn="l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各工艺节点营收 （先进制程）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algn="l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各工艺节点营收 （先进封装与其他）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41935">
                <a:tc>
                  <a:txBody>
                    <a:bodyPr/>
                    <a:p>
                      <a:pPr algn="ctr" fontAlgn="ctr"/>
                      <a:endParaRPr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</a:tr>
              <a:tr h="456565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0.18/0.15um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3.20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3.56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3.43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7nm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14.89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16.09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16.19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先进封装</a:t>
                      </a:r>
                      <a:b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CoWoS/CPO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6.44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10.23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16.24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241935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2.6%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2.4%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2.0%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12.2%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10.9%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9.4%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5.3%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7.0%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9.5%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</a:tr>
              <a:tr h="241935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0.11/0.13um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1.65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1.34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1.28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5nm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39.54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34.60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25.30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Tape out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掩膜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3.80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4.60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5.40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241935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1.3%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0.9%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0.7%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32.3%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23.5%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14.8%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3.1%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3.1%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3.2%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</a:tr>
              <a:tr h="241935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90nm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0.95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1.02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0.98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3nm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25.24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32.63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40.99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PDK/IP/OIP</a:t>
                      </a:r>
                      <a:r>
                        <a:rPr lang="zh-TW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服務</a:t>
                      </a:r>
                      <a:endParaRPr lang="zh-TW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5.50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6.60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7.40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0.8%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0.7%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0.6%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20.6%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22.2%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23.9%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4.5%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4.5%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4.3%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</a:tr>
              <a:tr h="242570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65nm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3.86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4.31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4.32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2nm/A16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0.00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13.55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31.56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241300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3.2%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2.9%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2.5%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9.2%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18.4%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</a:tr>
              <a:tr h="241935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40/45nm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3.04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3.34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3.31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1.4nm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2028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252730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2.5%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2.3%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1.9%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</a:tr>
              <a:tr h="252095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28nm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7.33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7.88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7.77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1.0nm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2031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252730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6.0%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5.4%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4.5%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</a:tr>
              <a:tr h="252730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16/20nm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7.08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7.20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7.18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0.7nm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2034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252730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5.8%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4.9%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4.2%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CE4D3"/>
                    </a:solidFill>
                  </a:tcPr>
                </a:tc>
              </a:tr>
              <a:tr h="345440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成熟制程占比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22.1%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19.5%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16.5%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先进制程占比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65.0%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65.9%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66.6%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先进封装与其他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12.8%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14.6%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16.9%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659448" y="594995"/>
            <a:ext cx="10873105" cy="810260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TW" altLang="zh-CN" sz="3200" b="1" spc="15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台积电业绩预估</a:t>
            </a:r>
            <a:endParaRPr lang="zh-TW" altLang="zh-CN" sz="3200" b="1" spc="15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817245" y="1405255"/>
          <a:ext cx="10234930" cy="4235450"/>
        </p:xfrm>
        <a:graphic>
          <a:graphicData uri="http://schemas.openxmlformats.org/drawingml/2006/table">
            <a:tbl>
              <a:tblPr/>
              <a:tblGrid>
                <a:gridCol w="829310"/>
                <a:gridCol w="940435"/>
                <a:gridCol w="940435"/>
                <a:gridCol w="940435"/>
                <a:gridCol w="941070"/>
                <a:gridCol w="940435"/>
                <a:gridCol w="940435"/>
                <a:gridCol w="940435"/>
                <a:gridCol w="941070"/>
                <a:gridCol w="940435"/>
                <a:gridCol w="940435"/>
              </a:tblGrid>
              <a:tr h="329565">
                <a:tc gridSpan="10">
                  <a:txBody>
                    <a:bodyPr/>
                    <a:p>
                      <a:pPr algn="l" fontAlgn="ctr"/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TSMC</a:t>
                      </a:r>
                      <a:r>
                        <a:rPr lang="en-US" altLang="zh-CN" sz="13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13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业绩预估</a:t>
                      </a:r>
                      <a:r>
                        <a:rPr lang="zh-CN" altLang="en-US" sz="13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  </a:t>
                      </a:r>
                      <a:endParaRPr lang="zh-CN" altLang="en-US" sz="13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2025.11.11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</a:tr>
              <a:tr h="285750"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2023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Q1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Q2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Q3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Q4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2023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</a:tr>
              <a:tr h="27495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(bn)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16.7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3.6%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15.7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-10.0%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17.3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-14.6%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19.6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0.0%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69.3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-4.5%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</a:tr>
              <a:tr h="285750"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2024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Q1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Q2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Q3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Q4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2024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</a:tr>
              <a:tr h="27495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(bn)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18.8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12.6%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20.8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32.5%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23.5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35.8%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26.8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36.7%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89.9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29.7%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</a:tr>
              <a:tr h="285750"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Q1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Q2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Q3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Q4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</a:tr>
              <a:tr h="28638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(bn)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25.5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35.7%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30.1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44.5%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33.5</a:t>
                      </a:r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42.5%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33.0</a:t>
                      </a:r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23.3%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122.1</a:t>
                      </a:r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35.8%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</a:tr>
              <a:tr h="257810"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Q1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Q2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Q3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Q4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</a:tr>
              <a:tr h="28638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(bn)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29.3</a:t>
                      </a:r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14.9%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33.7</a:t>
                      </a:r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12.1%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41.6</a:t>
                      </a:r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24.3%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47.7</a:t>
                      </a:r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44.4%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152.3</a:t>
                      </a:r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24.7%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</a:tr>
              <a:tr h="257175"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Q1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Q2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Q3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Q4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yoy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</a:tr>
              <a:tr h="28638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(bn)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44.4</a:t>
                      </a:r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51.5%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43.8</a:t>
                      </a:r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30.1%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47.5</a:t>
                      </a:r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14.2%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51.3</a:t>
                      </a:r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7.6%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187.1</a:t>
                      </a:r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300" b="0" i="0">
                          <a:solidFill>
                            <a:srgbClr val="00B050"/>
                          </a:solidFill>
                          <a:latin typeface="微软雅黑"/>
                          <a:ea typeface="微软雅黑"/>
                        </a:rPr>
                        <a:t>22.8%</a:t>
                      </a:r>
                      <a:endParaRPr lang="en-US" altLang="zh-CN" sz="1300" b="0" i="0">
                        <a:solidFill>
                          <a:srgbClr val="00B05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</a:tr>
              <a:tr h="300355">
                <a:tc gridSpan="11">
                  <a:txBody>
                    <a:bodyPr/>
                    <a:p>
                      <a:pPr algn="l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备注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1: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2024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新增产能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Fab18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P7+P8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3nm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40k(Q3)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,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熊本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Fab23A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28/12nm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55k(Q4)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,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南京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F16B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28nm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20k(Q2)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955">
                <a:tc gridSpan="11">
                  <a:txBody>
                    <a:bodyPr/>
                    <a:p>
                      <a:pPr algn="l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备注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2: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新增产能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F18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P8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3nm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30K(Q2)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,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F22A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P1 2nm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20K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(Q3),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凤凰城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Fab21A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4nm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30k(Q1)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gridSpan="11">
                  <a:txBody>
                    <a:bodyPr/>
                    <a:p>
                      <a:pPr algn="l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备注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3: 2026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新增能，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F22A P2/P3 2nm 70k(Q3) 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，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Fab24 P1 20k 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，熊本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Fab23 P2 12/7nm 30k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955">
                <a:tc gridSpan="11">
                  <a:txBody>
                    <a:bodyPr/>
                    <a:p>
                      <a:pPr algn="l" fontAlgn="ctr"/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备注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4: 2027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新增产能，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F22A P4 A16nm 30k(Q3) 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，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Fab24 P2 A16 20k </a:t>
                      </a:r>
                      <a:r>
                        <a:rPr lang="zh-CN" altLang="en-US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，凤凰城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Fab21P2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3nm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30k(Q4)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659448" y="420370"/>
            <a:ext cx="10873105" cy="810260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TW" altLang="en-US" sz="3200" b="1" spc="15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全球先进</a:t>
            </a:r>
            <a:r>
              <a:rPr altLang="zh-TW" sz="3200" b="1" spc="15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Foundry MTr</a:t>
            </a:r>
            <a:r>
              <a:rPr lang="zh-TW" altLang="en-US" sz="3200" b="1" spc="15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比较</a:t>
            </a:r>
            <a:endParaRPr lang="zh-TW" altLang="en-US" sz="3200" b="1" spc="15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335010" y="1230630"/>
            <a:ext cx="3343910" cy="5120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en-US" altLang="zh-CN" sz="1400" b="1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2026</a:t>
            </a:r>
            <a:r>
              <a:rPr lang="zh-TW" altLang="en-US" sz="1400" b="1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年</a:t>
            </a:r>
            <a:r>
              <a:rPr lang="en-US" altLang="zh-TW" sz="1400" b="1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 </a:t>
            </a:r>
            <a:r>
              <a:rPr lang="zh-TW" altLang="en-US" sz="1400" b="1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三大推出的最新制程分别为</a:t>
            </a:r>
            <a:endParaRPr lang="zh-TW" altLang="en-US" sz="1400" b="1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TSMC N3P : 230MTr/mm2</a:t>
            </a:r>
            <a:endParaRPr lang="en-US" altLang="zh-TW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TSMC N2 : 313MTr/mm2</a:t>
            </a:r>
            <a:endParaRPr lang="en-US" altLang="zh-TW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Intel 18A : 230MTr/mm2</a:t>
            </a:r>
            <a:endParaRPr lang="en-US" altLang="zh-TW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SS 2GAE : 200MTr/mm2</a:t>
            </a:r>
            <a:endParaRPr lang="en-US" altLang="zh-TW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2027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年</a:t>
            </a: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TSMC A16 : 330MTr/mm2</a:t>
            </a:r>
            <a:endParaRPr lang="en-US" altLang="zh-TW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2028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年</a:t>
            </a: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TSMC A14 : 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約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380MT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r/mm2</a:t>
            </a:r>
            <a:endParaRPr lang="en-US" altLang="zh-TW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Intel 14A : 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約</a:t>
            </a: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280MTr/mm2</a:t>
            </a:r>
            <a:endParaRPr lang="en-US" altLang="zh-TW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en-US" altLang="zh-TW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SS </a:t>
            </a:r>
            <a:r>
              <a:rPr lang="zh-TW" altLang="en-US" sz="14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90204" pitchFamily="34" charset="0"/>
              </a:rPr>
              <a:t>未知</a:t>
            </a:r>
            <a:endParaRPr lang="zh-TW" altLang="en-US" sz="14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90204" pitchFamily="34" charset="0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548005" y="1291590"/>
          <a:ext cx="7378700" cy="5101590"/>
        </p:xfrm>
        <a:graphic>
          <a:graphicData uri="http://schemas.openxmlformats.org/drawingml/2006/table">
            <a:tbl>
              <a:tblPr/>
              <a:tblGrid>
                <a:gridCol w="1008380"/>
                <a:gridCol w="1086485"/>
                <a:gridCol w="1208405"/>
                <a:gridCol w="1138555"/>
                <a:gridCol w="1047750"/>
                <a:gridCol w="932815"/>
                <a:gridCol w="956310"/>
              </a:tblGrid>
              <a:tr h="232410"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Intel 14nm+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TSMC16/12nm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SS 14LPP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SMIC 14nm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UMC 14nm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GF 14nm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CCP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78nm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cell height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399nm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480nm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576nm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Fin Pitch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42nm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48nm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48nm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MMP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52nm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64nm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64nm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MTr/mm2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37.5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29/36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32.9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Intel 10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TSMC N10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SS 10LPP/8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NP(10nm)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MTr/mm2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44.6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51.8/61.8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Intel 7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TSMC N7/N7+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SS 7LPP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N+1/N+2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CCP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54nm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57nm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57nm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MMP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44nm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38nm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MTr/mm2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91/116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72/98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Intel 4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TSMC N5/N4P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SS 5/4LPP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N+3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CCP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48nm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48nm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57nm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MMP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30/28nm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40/28nm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MTr/mm2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153/181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127/137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Intel 3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  N3B/N3P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SS 3GAE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N+4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CCP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48nm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MMP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23nm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MTr/mm2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190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放弃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210/230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130~135(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估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Intel 18A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   N2B/N2P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SS 2GAE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CCP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36nm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MMP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MTr/mm2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238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313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TW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200+</a:t>
                      </a:r>
                      <a:endParaRPr lang="en-US" altLang="zh-TW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endParaRPr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   A16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SS 2nm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cancel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588E31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CCP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MMP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20nm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180340">
                <a:tc>
                  <a:txBody>
                    <a:bodyPr/>
                    <a:p>
                      <a:pPr algn="ctr" fontAlgn="ctr"/>
                      <a:r>
                        <a:rPr lang="en-US" altLang="zh-CN" sz="11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MTr/mm2</a:t>
                      </a:r>
                      <a:endParaRPr lang="en-US" altLang="zh-CN" sz="11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330(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未量产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1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文本框 71"/>
          <p:cNvSpPr txBox="1"/>
          <p:nvPr>
            <p:custDataLst>
              <p:tags r:id="rId1"/>
            </p:custDataLst>
          </p:nvPr>
        </p:nvSpPr>
        <p:spPr>
          <a:xfrm>
            <a:off x="1233794" y="2268989"/>
            <a:ext cx="3643006" cy="10156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6000" b="1" spc="150" dirty="0">
                <a:solidFill>
                  <a:schemeClr val="accent6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PART 02</a:t>
            </a:r>
            <a:endParaRPr lang="en-US" altLang="zh-CN" sz="6000" b="1" spc="150" dirty="0">
              <a:solidFill>
                <a:schemeClr val="accent6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TW" altLang="zh-CN"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台积电</a:t>
            </a:r>
            <a:r>
              <a:rPr lang="en-US" altLang="zh-TW"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CoWoS</a:t>
            </a:r>
            <a:r>
              <a:rPr lang="zh-TW" altLang="en-US"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与</a:t>
            </a:r>
            <a:r>
              <a:rPr lang="en-US" altLang="zh-TW"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AI</a:t>
            </a:r>
            <a:endParaRPr lang="en-US" altLang="zh-TW"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659448" y="86360"/>
            <a:ext cx="10873105" cy="810260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altLang="zh-TW" sz="3200" b="1" spc="15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TSMC CoWoS</a:t>
            </a:r>
            <a:endParaRPr altLang="zh-TW" sz="3200" b="1" spc="150">
              <a:solidFill>
                <a:schemeClr val="bg1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3585" y="5968365"/>
            <a:ext cx="8293100" cy="715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400">
                <a:solidFill>
                  <a:schemeClr val="bg1"/>
                </a:solidFill>
                <a:sym typeface="+mn-ea"/>
              </a:rPr>
              <a:t>备注1 : </a:t>
            </a:r>
            <a:r>
              <a:rPr lang="en-US" altLang="zh-CN" sz="1400">
                <a:solidFill>
                  <a:schemeClr val="bg1"/>
                </a:solidFill>
                <a:sym typeface="+mn-ea"/>
              </a:rPr>
              <a:t>2025 CoWoS-L : 360K , CoWoS-S : 260K  ,  CoWoS-R : 100K</a:t>
            </a:r>
            <a:endParaRPr lang="en-US" altLang="zh-CN" sz="1400">
              <a:solidFill>
                <a:schemeClr val="bg1"/>
              </a:solidFill>
              <a:sym typeface="+mn-ea"/>
            </a:endParaRPr>
          </a:p>
          <a:p>
            <a:r>
              <a:rPr lang="zh-TW" altLang="en-US" sz="1400">
                <a:solidFill>
                  <a:schemeClr val="bg1"/>
                </a:solidFill>
                <a:sym typeface="+mn-ea"/>
              </a:rPr>
              <a:t>备注</a:t>
            </a:r>
            <a:r>
              <a:rPr lang="en-US" altLang="zh-TW" sz="1400">
                <a:solidFill>
                  <a:schemeClr val="bg1"/>
                </a:solidFill>
                <a:sym typeface="+mn-ea"/>
              </a:rPr>
              <a:t>3 : </a:t>
            </a:r>
            <a:r>
              <a:rPr lang="zh-TW" altLang="en-US" sz="1400">
                <a:solidFill>
                  <a:schemeClr val="bg1"/>
                </a:solidFill>
                <a:sym typeface="+mn-ea"/>
              </a:rPr>
              <a:t>国内各</a:t>
            </a:r>
            <a:r>
              <a:rPr lang="en-US" altLang="zh-TW" sz="1400">
                <a:solidFill>
                  <a:schemeClr val="bg1"/>
                </a:solidFill>
                <a:sym typeface="+mn-ea"/>
              </a:rPr>
              <a:t>CSP</a:t>
            </a:r>
            <a:r>
              <a:rPr lang="zh-TW" altLang="en-US" sz="1400">
                <a:solidFill>
                  <a:schemeClr val="bg1"/>
                </a:solidFill>
                <a:sym typeface="+mn-ea"/>
              </a:rPr>
              <a:t>大厂的流片与生产</a:t>
            </a:r>
            <a:r>
              <a:rPr lang="en-US" altLang="zh-TW" sz="1400">
                <a:solidFill>
                  <a:schemeClr val="bg1"/>
                </a:solidFill>
                <a:sym typeface="+mn-ea"/>
              </a:rPr>
              <a:t>2025</a:t>
            </a:r>
            <a:r>
              <a:rPr lang="zh-TW" altLang="en-US" sz="1400">
                <a:solidFill>
                  <a:schemeClr val="bg1"/>
                </a:solidFill>
                <a:sym typeface="+mn-ea"/>
              </a:rPr>
              <a:t>年须取得</a:t>
            </a:r>
            <a:r>
              <a:rPr lang="en-US" altLang="zh-TW" sz="1400">
                <a:solidFill>
                  <a:schemeClr val="bg1"/>
                </a:solidFill>
                <a:sym typeface="+mn-ea"/>
              </a:rPr>
              <a:t>license </a:t>
            </a:r>
            <a:r>
              <a:rPr lang="zh-TW" altLang="en-US" sz="1400">
                <a:solidFill>
                  <a:schemeClr val="bg1"/>
                </a:solidFill>
                <a:sym typeface="+mn-ea"/>
              </a:rPr>
              <a:t>，几乎全部被</a:t>
            </a:r>
            <a:r>
              <a:rPr lang="en-US" altLang="zh-TW" sz="1400">
                <a:solidFill>
                  <a:schemeClr val="bg1"/>
                </a:solidFill>
                <a:sym typeface="+mn-ea"/>
              </a:rPr>
              <a:t>ban</a:t>
            </a:r>
            <a:endParaRPr lang="zh-TW" altLang="en-US" sz="1400">
              <a:solidFill>
                <a:schemeClr val="bg1"/>
              </a:solidFill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743585" y="1151255"/>
          <a:ext cx="9460230" cy="4562475"/>
        </p:xfrm>
        <a:graphic>
          <a:graphicData uri="http://schemas.openxmlformats.org/drawingml/2006/table">
            <a:tbl>
              <a:tblPr/>
              <a:tblGrid>
                <a:gridCol w="909320"/>
                <a:gridCol w="702945"/>
                <a:gridCol w="702945"/>
                <a:gridCol w="703580"/>
                <a:gridCol w="702310"/>
                <a:gridCol w="702945"/>
                <a:gridCol w="817245"/>
                <a:gridCol w="2165350"/>
                <a:gridCol w="1077595"/>
                <a:gridCol w="975995"/>
              </a:tblGrid>
              <a:tr h="365125">
                <a:tc>
                  <a:txBody>
                    <a:bodyPr/>
                    <a:p>
                      <a:pPr algn="ctr" fontAlgn="b"/>
                      <a:endParaRPr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2023 </a:t>
                      </a:r>
                      <a:b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Q1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2023 </a:t>
                      </a:r>
                      <a:b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Q2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2023 </a:t>
                      </a:r>
                      <a:b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Q3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2023 </a:t>
                      </a:r>
                      <a:b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Q4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2023 </a:t>
                      </a:r>
                      <a:b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Total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2024 </a:t>
                      </a:r>
                      <a:b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Total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REMARK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b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Total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b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Total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</a:tr>
              <a:tr h="186055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TSMC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17,500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33,000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35,000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110,500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326,000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有效产能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720,000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ED7D31"/>
                          </a:solidFill>
                          <a:latin typeface="微软雅黑"/>
                          <a:ea typeface="微软雅黑"/>
                        </a:rPr>
                        <a:t>1,200,000</a:t>
                      </a:r>
                      <a:endParaRPr lang="en-US" altLang="zh-CN" sz="1000" b="1" i="0">
                        <a:solidFill>
                          <a:srgbClr val="ED7D3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8669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NV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5,631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12,306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15,227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11,757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44,921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165,000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A/H/B , 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季度产能为预估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400,000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ED7D31"/>
                          </a:solidFill>
                          <a:latin typeface="微软雅黑"/>
                          <a:ea typeface="微软雅黑"/>
                        </a:rPr>
                        <a:t>680,000</a:t>
                      </a:r>
                      <a:endParaRPr lang="en-US" altLang="zh-CN" sz="1000" b="1" i="0">
                        <a:solidFill>
                          <a:srgbClr val="ED7D3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471805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Broadcom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3,230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5,422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10,986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9,398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29,036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65,000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Google TPU5&amp;TPU6</a:t>
                      </a:r>
                      <a:b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ByteDance (5nm)/ban</a:t>
                      </a:r>
                      <a:b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Meta-MITA v1 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7nm)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95,000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ED7D31"/>
                          </a:solidFill>
                          <a:latin typeface="微软雅黑"/>
                          <a:ea typeface="微软雅黑"/>
                        </a:rPr>
                        <a:t>160,000</a:t>
                      </a:r>
                      <a:endParaRPr lang="en-US" altLang="zh-CN" sz="1000" b="1" i="0">
                        <a:solidFill>
                          <a:srgbClr val="ED7D3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86055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Xilinx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3,382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3,395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3,416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3,450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13,643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20,000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ED7D31"/>
                          </a:solidFill>
                          <a:latin typeface="微软雅黑"/>
                          <a:ea typeface="微软雅黑"/>
                        </a:rPr>
                        <a:t>25,000</a:t>
                      </a:r>
                      <a:endParaRPr lang="en-US" altLang="zh-CN" sz="1000" b="1" i="0">
                        <a:solidFill>
                          <a:srgbClr val="ED7D3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187325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AMD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361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534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5,612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6,815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35,000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Mi300 , 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季度产能为预估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55,000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ED7D31"/>
                          </a:solidFill>
                          <a:latin typeface="微软雅黑"/>
                          <a:ea typeface="微软雅黑"/>
                        </a:rPr>
                        <a:t>70,000</a:t>
                      </a:r>
                      <a:endParaRPr lang="en-US" altLang="zh-CN" sz="1000" b="1" i="0">
                        <a:solidFill>
                          <a:srgbClr val="ED7D3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8669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Annapurna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1,555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1,500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1,800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1,800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6,655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AWS ? 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非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Graviton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15,000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ED7D31"/>
                          </a:solidFill>
                          <a:latin typeface="微软雅黑"/>
                          <a:ea typeface="微软雅黑"/>
                        </a:rPr>
                        <a:t>12,500</a:t>
                      </a:r>
                      <a:endParaRPr lang="en-US" altLang="zh-CN" sz="1000" b="1" i="0">
                        <a:solidFill>
                          <a:srgbClr val="ED7D3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18669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Cisco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1,592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1,262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4,058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7,000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ED7D31"/>
                          </a:solidFill>
                          <a:latin typeface="微软雅黑"/>
                          <a:ea typeface="微软雅黑"/>
                        </a:rPr>
                        <a:t>10,000</a:t>
                      </a:r>
                      <a:endParaRPr lang="en-US" altLang="zh-CN" sz="1000" b="1" i="0">
                        <a:solidFill>
                          <a:srgbClr val="ED7D3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Marvell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453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741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1,192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2,397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AWS-Trainium(5nm)</a:t>
                      </a:r>
                      <a:b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Meta-MITA v2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（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5nm)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60,000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ED7D31"/>
                          </a:solidFill>
                          <a:latin typeface="微软雅黑"/>
                          <a:ea typeface="微软雅黑"/>
                        </a:rPr>
                        <a:t>70,000</a:t>
                      </a:r>
                      <a:endParaRPr lang="en-US" altLang="zh-CN" sz="1000" b="1" i="0">
                        <a:solidFill>
                          <a:srgbClr val="ED7D3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187325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Sanechips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632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996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450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575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2,653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1" i="0">
                        <a:solidFill>
                          <a:srgbClr val="ED7D3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Alchip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483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465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1,590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AWS-Trainium(7nm)(3nm)</a:t>
                      </a:r>
                      <a:b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Intel Gaudi 2(7nm) &amp;3(5nm)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17,500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ED7D31"/>
                          </a:solidFill>
                          <a:latin typeface="微软雅黑"/>
                          <a:ea typeface="微软雅黑"/>
                        </a:rPr>
                        <a:t>45,000</a:t>
                      </a:r>
                      <a:endParaRPr lang="en-US" altLang="zh-CN" sz="1000" b="1" i="0">
                        <a:solidFill>
                          <a:srgbClr val="ED7D3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18669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T-Head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276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525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1,325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1" i="0">
                        <a:solidFill>
                          <a:srgbClr val="ED7D3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8669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Mircosoft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395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1,000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1" i="0">
                        <a:solidFill>
                          <a:srgbClr val="ED7D3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32004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GUC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463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Mircosoft  Maia&amp;Codail(5nm)  </a:t>
                      </a:r>
                      <a:b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</a:b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T-Head 1(5nm) / 2025 ban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15,000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ED7D31"/>
                          </a:solidFill>
                          <a:latin typeface="微软雅黑"/>
                          <a:ea typeface="微软雅黑"/>
                        </a:rPr>
                        <a:t>25,000</a:t>
                      </a:r>
                      <a:endParaRPr lang="en-US" altLang="zh-CN" sz="1000" b="1" i="0">
                        <a:solidFill>
                          <a:srgbClr val="ED7D3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87325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Baidu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Kunlen 2 (5nm) / 2025 ban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1" i="0">
                        <a:solidFill>
                          <a:srgbClr val="ED7D3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186055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Tencent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Zixiao v2(5nm) / 2025 ban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1" i="0">
                        <a:solidFill>
                          <a:srgbClr val="ED7D3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222885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MetaX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C500</a:t>
                      </a:r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降規版</a:t>
                      </a:r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C280 / 2025 ban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ED7D3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22250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MTK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TPU7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ED7D31"/>
                          </a:solidFill>
                          <a:latin typeface="微软雅黑"/>
                          <a:ea typeface="微软雅黑"/>
                        </a:rPr>
                        <a:t>15,000</a:t>
                      </a:r>
                      <a:endParaRPr lang="en-US" altLang="zh-CN" sz="1000" b="0" i="0">
                        <a:solidFill>
                          <a:srgbClr val="ED7D3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266700"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Total 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16,592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26,608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34,856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36,107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114,163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326,000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实际生产数量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686,500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ED7D31"/>
                          </a:solidFill>
                          <a:latin typeface="微软雅黑"/>
                          <a:ea typeface="微软雅黑"/>
                        </a:rPr>
                        <a:t>1,112,500</a:t>
                      </a:r>
                      <a:endParaRPr lang="en-US" altLang="zh-CN" sz="1000" b="1" i="0">
                        <a:solidFill>
                          <a:srgbClr val="ED7D31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307340" y="606425"/>
            <a:ext cx="4346575" cy="2499995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TW" altLang="en-US" sz="32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台</a:t>
            </a:r>
            <a:r>
              <a:rPr altLang="zh-TW" sz="32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zh-TW" altLang="en-US" sz="32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积</a:t>
            </a:r>
            <a:r>
              <a:rPr altLang="zh-TW" sz="32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zh-TW" altLang="en-US" sz="32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电</a:t>
            </a:r>
            <a:endParaRPr lang="zh-TW" altLang="en-US" sz="3200" b="1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altLang="zh-CN" sz="32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AI </a:t>
            </a:r>
            <a:r>
              <a:rPr altLang="zh-CN" sz="28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accelerator products</a:t>
            </a:r>
            <a:endParaRPr altLang="zh-CN" sz="3200" b="1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TW" altLang="en-US" sz="32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营</a:t>
            </a:r>
            <a:r>
              <a:rPr altLang="zh-TW" sz="32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zh-TW" altLang="en-US" sz="32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收</a:t>
            </a:r>
            <a:r>
              <a:rPr altLang="zh-TW" sz="32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zh-CN" altLang="en-US" sz="32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分</a:t>
            </a:r>
            <a:r>
              <a:rPr altLang="zh-CN" sz="32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zh-CN" altLang="en-US" sz="3200" b="1">
                <a:solidFill>
                  <a:schemeClr val="bg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拆</a:t>
            </a:r>
            <a:endParaRPr lang="zh-CN" altLang="en-US" sz="3200" b="1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3200" b="1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3200" b="1" spc="150">
              <a:solidFill>
                <a:schemeClr val="bg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7340" y="3106420"/>
            <a:ext cx="4114800" cy="24993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备注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1: 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台积电营收中未明确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范围，在台积电的应用中归类为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HPC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，但有些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产品又未归属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HPC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备注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：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2027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CoPoS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跟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CPO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开始贡献业绩，并在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2028-2030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的三年呈现极高增长。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备注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3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：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CC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魏说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2024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到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2029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的复合增长率高达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45%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。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依照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本模型基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2028/29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两年复合增长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20%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，即可达成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CC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魏的目标。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</a:pP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2029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年台积电总营收约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200bn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，其中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AI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总营收为</a:t>
            </a:r>
            <a:r>
              <a:rPr lang="en-US" altLang="zh-TW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80bn</a:t>
            </a:r>
            <a:r>
              <a:rPr lang="zh-TW" altLang="en-US" sz="1200" spc="50" noProof="0" dirty="0">
                <a:ln w="3175">
                  <a:noFill/>
                  <a:prstDash val="dash"/>
                </a:ln>
                <a:solidFill>
                  <a:schemeClr val="bg1"/>
                </a:solidFill>
                <a:effectLst/>
                <a:uLnTx/>
                <a:uFillTx/>
                <a:latin typeface="微软雅黑" charset="0"/>
                <a:ea typeface="微软雅黑" charset="0"/>
                <a:cs typeface="微软雅黑" charset="0"/>
                <a:sym typeface="Arial" panose="020B0604020202090204" pitchFamily="34" charset="0"/>
              </a:rPr>
              <a:t>左右。</a:t>
            </a:r>
            <a:endParaRPr lang="zh-TW" altLang="en-US" sz="1200" spc="50" noProof="0" dirty="0">
              <a:ln w="3175">
                <a:noFill/>
                <a:prstDash val="dash"/>
              </a:ln>
              <a:solidFill>
                <a:schemeClr val="bg1"/>
              </a:solidFill>
              <a:effectLst/>
              <a:uLnTx/>
              <a:uFillTx/>
              <a:latin typeface="微软雅黑" charset="0"/>
              <a:ea typeface="微软雅黑" charset="0"/>
              <a:cs typeface="微软雅黑" charset="0"/>
              <a:sym typeface="Arial" panose="020B0604020202090204" pitchFamily="34" charset="0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4913630" y="193675"/>
          <a:ext cx="6257925" cy="6397625"/>
        </p:xfrm>
        <a:graphic>
          <a:graphicData uri="http://schemas.openxmlformats.org/drawingml/2006/table">
            <a:tbl>
              <a:tblPr/>
              <a:tblGrid>
                <a:gridCol w="2741295"/>
                <a:gridCol w="878205"/>
                <a:gridCol w="879475"/>
                <a:gridCol w="879475"/>
                <a:gridCol w="879475"/>
              </a:tblGrid>
              <a:tr h="199390">
                <a:tc gridSpan="5">
                  <a:txBody>
                    <a:bodyPr/>
                    <a:p>
                      <a:pPr algn="l" fontAlgn="ctr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台积电</a:t>
                      </a:r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AI accelerator products </a:t>
                      </a:r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营收分拆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2024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73990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cowos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总量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320,000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720,000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1,200,000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1,600,000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asp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金额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72720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cowos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2,400,000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6,120,000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10,800,000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14,400,000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173990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前段芯片数量单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die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9,600,000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21,600,000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34,800,000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43,200,000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需要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数量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片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274,286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576,000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928,000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1,234,286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 asp /k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AI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前段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3,840,000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9,216,000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15,776,000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25,920,000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gpu/asic(cowos)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总收入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6,240,000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15,336,000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26,576,000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40,320,000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年增率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145.8%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73.3%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51.7%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AI CPU,NPU,IPU /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片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109,714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144,000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185,600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176,327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 asp /k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1,536,000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2,304,000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3,155,200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3,702,857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tape out 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开案数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asp/k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1,500,000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1,200,000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1,200,000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1,200,000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ai swtich/serdes wafer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173990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 asp /k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72720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280,000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640,000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1,020,000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1,890,000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L40/L4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等非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cowos AI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芯片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125,000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150,000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185,000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173990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 asp /k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1,400,000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2,000,000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2,550,000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3,885,000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172720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hbm controller + phy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65,000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173990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 asp /k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420,000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1,105,000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1,680,000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pcie/retimer/dpu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65,000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 asp /k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360,000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650,000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960,000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1,300,000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CoPoS/CPO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72720">
                <a:tc>
                  <a:txBody>
                    <a:bodyPr/>
                    <a:p>
                      <a:pPr algn="l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wafer asp /k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173990">
                <a:tc>
                  <a:txBody>
                    <a:bodyPr/>
                    <a:p>
                      <a:pPr algn="l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720,000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AI accelerator products</a:t>
                      </a: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 </a:t>
                      </a: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 bn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11.74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22.93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36.57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54.70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AI </a:t>
                      </a: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營收增長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95.4%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59.5%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49.6%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73355">
                <a:tc>
                  <a:txBody>
                    <a:bodyPr/>
                    <a:p>
                      <a:pPr algn="l" fontAlgn="ctr"/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台积电总营收 </a:t>
                      </a:r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 bn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90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123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149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170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</a:tr>
              <a:tr h="302895">
                <a:tc>
                  <a:txBody>
                    <a:bodyPr/>
                    <a:p>
                      <a:pPr algn="l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AI accelerator products </a:t>
                      </a:r>
                      <a:r>
                        <a:rPr lang="zh-CN" altLang="en-US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营收占比</a:t>
                      </a:r>
                      <a:endParaRPr lang="zh-CN" altLang="en-US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13.1%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18.7%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24.5%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32.1%</a:t>
                      </a:r>
                      <a:endParaRPr lang="en-US" altLang="zh-CN" sz="1000" b="1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文本框 71"/>
          <p:cNvSpPr txBox="1"/>
          <p:nvPr>
            <p:custDataLst>
              <p:tags r:id="rId1"/>
            </p:custDataLst>
          </p:nvPr>
        </p:nvSpPr>
        <p:spPr>
          <a:xfrm>
            <a:off x="1233794" y="2268989"/>
            <a:ext cx="3643006" cy="101566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6000" b="1" spc="150" dirty="0">
                <a:solidFill>
                  <a:schemeClr val="accent6"/>
                </a:solidFill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PART 03</a:t>
            </a:r>
            <a:endParaRPr lang="en-US" altLang="zh-CN" sz="6000" b="1" spc="150" dirty="0">
              <a:solidFill>
                <a:schemeClr val="accent6"/>
              </a:solidFill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TW"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GPU &amp; ASIC</a:t>
            </a:r>
            <a:endParaRPr lang="en-US" altLang="zh-TW"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658813" y="567690"/>
            <a:ext cx="10873105" cy="810260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altLang="zh-TW" sz="3200" b="1" spc="150">
                <a:solidFill>
                  <a:schemeClr val="bg1"/>
                </a:solidFill>
                <a:latin typeface="+mn-ea"/>
                <a:cs typeface="+mn-ea"/>
                <a:sym typeface="Arial" panose="020B0604020202090204" pitchFamily="34" charset="0"/>
              </a:rPr>
              <a:t>NV</a:t>
            </a:r>
            <a:r>
              <a:rPr lang="zh-TW" altLang="en-US" sz="3200" b="1" spc="150">
                <a:solidFill>
                  <a:schemeClr val="bg1"/>
                </a:solidFill>
                <a:latin typeface="+mn-ea"/>
                <a:cs typeface="+mn-ea"/>
                <a:sym typeface="Arial" panose="020B0604020202090204" pitchFamily="34" charset="0"/>
              </a:rPr>
              <a:t>出货量与营收</a:t>
            </a:r>
            <a:endParaRPr lang="zh-TW" altLang="en-US" sz="3200" b="1" spc="150">
              <a:solidFill>
                <a:schemeClr val="bg1"/>
              </a:solidFill>
              <a:latin typeface="+mn-ea"/>
              <a:cs typeface="+mn-ea"/>
              <a:sym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20140" y="5015230"/>
            <a:ext cx="8293100" cy="7150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备注1 : </a:t>
            </a:r>
            <a:r>
              <a:rPr lang="en-US" altLang="zh-CN" sz="160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GPU</a:t>
            </a:r>
            <a:r>
              <a:rPr lang="zh-TW" altLang="en-US" sz="160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出货卡数根据每一代</a:t>
            </a:r>
            <a:r>
              <a:rPr lang="en-US" altLang="zh-TW" sz="160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interposer</a:t>
            </a:r>
            <a:r>
              <a:rPr lang="zh-TW" altLang="en-US" sz="160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放大而调整</a:t>
            </a:r>
            <a:endParaRPr lang="zh-TW" altLang="en-US" sz="1600">
              <a:solidFill>
                <a:schemeClr val="bg1"/>
              </a:solidFill>
              <a:latin typeface="+mj-ea"/>
              <a:ea typeface="+mj-ea"/>
              <a:cs typeface="+mj-ea"/>
              <a:sym typeface="+mn-ea"/>
            </a:endParaRPr>
          </a:p>
          <a:p>
            <a:endParaRPr lang="zh-CN" altLang="en-US" sz="1600">
              <a:solidFill>
                <a:schemeClr val="bg1"/>
              </a:solidFill>
              <a:latin typeface="+mj-ea"/>
              <a:ea typeface="+mj-ea"/>
              <a:cs typeface="+mj-ea"/>
              <a:sym typeface="+mn-ea"/>
            </a:endParaRPr>
          </a:p>
          <a:p>
            <a:r>
              <a:rPr lang="zh-TW" altLang="zh-CN" sz="160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备注</a:t>
            </a:r>
            <a:r>
              <a:rPr lang="en-US" altLang="zh-TW" sz="160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2 : </a:t>
            </a:r>
            <a:r>
              <a:rPr lang="zh-TW" altLang="en-US" sz="160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营收根据每一代</a:t>
            </a:r>
            <a:r>
              <a:rPr lang="en-US" altLang="zh-TW" sz="160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GPU</a:t>
            </a:r>
            <a:r>
              <a:rPr lang="zh-TW" altLang="en-US" sz="1600">
                <a:solidFill>
                  <a:schemeClr val="bg1"/>
                </a:solidFill>
                <a:latin typeface="+mj-ea"/>
                <a:ea typeface="+mj-ea"/>
                <a:cs typeface="+mj-ea"/>
                <a:sym typeface="+mn-ea"/>
              </a:rPr>
              <a:t>可能调涨的价格调整</a:t>
            </a:r>
            <a:endParaRPr lang="zh-TW" altLang="en-US" sz="1600">
              <a:solidFill>
                <a:schemeClr val="bg1"/>
              </a:solidFill>
              <a:latin typeface="+mj-ea"/>
              <a:ea typeface="+mj-ea"/>
              <a:cs typeface="+mj-ea"/>
              <a:sym typeface="+mn-ea"/>
            </a:endParaRPr>
          </a:p>
          <a:p>
            <a:endParaRPr lang="zh-TW" altLang="en-US" sz="1600">
              <a:solidFill>
                <a:schemeClr val="bg1"/>
              </a:solidFill>
              <a:latin typeface="+mj-ea"/>
              <a:ea typeface="+mj-ea"/>
              <a:cs typeface="+mj-ea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1120140" y="1896110"/>
          <a:ext cx="9372600" cy="2842260"/>
        </p:xfrm>
        <a:graphic>
          <a:graphicData uri="http://schemas.openxmlformats.org/drawingml/2006/table">
            <a:tbl>
              <a:tblPr/>
              <a:tblGrid>
                <a:gridCol w="2027555"/>
                <a:gridCol w="1200785"/>
                <a:gridCol w="1200150"/>
                <a:gridCol w="1200150"/>
                <a:gridCol w="1200785"/>
                <a:gridCol w="1200785"/>
                <a:gridCol w="1342390"/>
              </a:tblGrid>
              <a:tr h="445135">
                <a:tc gridSpan="7"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英伟达出货与营收预测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40360"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2022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2025(e)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2026(e)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2027(e)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340360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CoWoS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数量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(TSMC)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17,500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46,500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160,000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420,000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680,000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925,000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340360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CoWoS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增涨率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endParaRPr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165.7%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244.1%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162.5%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61.9%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36.0%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340360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GPGPU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出货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卡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(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估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)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240,000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2,300,000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4,340,000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6,300,000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8,160,000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8,787,500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340360"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出货卡数增长率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(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估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)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endParaRPr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858.3%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88.7%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45.2%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29.5%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7.7%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340360"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 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/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亿美元 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(CY)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269.7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609.2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1,291.0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2,110.5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3,468.0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4,569.5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354965">
                <a:tc>
                  <a:txBody>
                    <a:bodyPr/>
                    <a:p>
                      <a:pPr algn="l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营收增长率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endParaRPr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125.9%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111.9%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63.5%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64.3%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31.8%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658813" y="567690"/>
            <a:ext cx="10873105" cy="810260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altLang="zh-TW" sz="3200" b="1" spc="150">
                <a:solidFill>
                  <a:schemeClr val="bg1"/>
                </a:solidFill>
                <a:latin typeface="+mn-ea"/>
                <a:cs typeface="+mn-ea"/>
                <a:sym typeface="Arial" panose="020B0604020202090204" pitchFamily="34" charset="0"/>
              </a:rPr>
              <a:t>TSMC CoWoS</a:t>
            </a:r>
            <a:r>
              <a:rPr lang="zh-TW" altLang="en-US" sz="3200" b="1" spc="150">
                <a:solidFill>
                  <a:schemeClr val="bg1"/>
                </a:solidFill>
                <a:latin typeface="+mn-ea"/>
                <a:cs typeface="+mn-ea"/>
                <a:sym typeface="Arial" panose="020B0604020202090204" pitchFamily="34" charset="0"/>
              </a:rPr>
              <a:t>产能分配</a:t>
            </a:r>
            <a:endParaRPr lang="zh-TW" altLang="en-US" sz="3200" b="1" spc="150">
              <a:solidFill>
                <a:schemeClr val="bg1"/>
              </a:solidFill>
              <a:latin typeface="+mn-ea"/>
              <a:cs typeface="+mn-ea"/>
              <a:sym typeface="Arial" panose="020B0604020202090204" pitchFamily="34" charset="0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932815" y="1764665"/>
          <a:ext cx="9391015" cy="3328670"/>
        </p:xfrm>
        <a:graphic>
          <a:graphicData uri="http://schemas.openxmlformats.org/drawingml/2006/table">
            <a:tbl>
              <a:tblPr/>
              <a:tblGrid>
                <a:gridCol w="2543175"/>
                <a:gridCol w="1330960"/>
                <a:gridCol w="1331595"/>
                <a:gridCol w="1330960"/>
                <a:gridCol w="1330325"/>
                <a:gridCol w="1524000"/>
              </a:tblGrid>
              <a:tr h="538480">
                <a:tc gridSpan="6">
                  <a:txBody>
                    <a:bodyPr/>
                    <a:p>
                      <a:pPr algn="l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TSMC  CoWoS</a:t>
                      </a:r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产能与分配预测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93700"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2025(e)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2026(e)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2027(e)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393700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TSMC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总产能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120,000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320,000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720,000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1,200,000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1,600,000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393700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TSMC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年增涨率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endParaRPr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166.7%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125.0%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66.7%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33.3%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41084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GPGPU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需求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(NV/AMD)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50,000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190,000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450,000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680,000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925,000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393700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GPGPU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年增涨率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165.7%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280.0%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136.8%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51.1%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36.0%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39306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ASIC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需求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(Avgo/Mrvl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等）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45,000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120,000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250,000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432,500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700,000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411480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ASIC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年增涨率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endParaRPr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166.7%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108.3%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73.0%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61.8%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6"/>
          <p:cNvSpPr txBox="1"/>
          <p:nvPr>
            <p:custDataLst>
              <p:tags r:id="rId1"/>
            </p:custDataLst>
          </p:nvPr>
        </p:nvSpPr>
        <p:spPr>
          <a:xfrm>
            <a:off x="658813" y="567690"/>
            <a:ext cx="10873105" cy="810260"/>
          </a:xfrm>
          <a:prstGeom prst="rect">
            <a:avLst/>
          </a:prstGeom>
          <a:noFill/>
          <a:ln w="3175">
            <a:noFill/>
            <a:prstDash val="sysDash"/>
          </a:ln>
        </p:spPr>
        <p:txBody>
          <a:bodyPr wrap="square" lIns="90000" tIns="46800" rIns="90000" bIns="46800" anchor="b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13765" rtl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TW" altLang="en-US" sz="3200" b="1" spc="150">
                <a:solidFill>
                  <a:schemeClr val="bg1"/>
                </a:solidFill>
                <a:latin typeface="+mn-ea"/>
                <a:cs typeface="+mn-ea"/>
                <a:sym typeface="Arial" panose="020B0604020202090204" pitchFamily="34" charset="0"/>
              </a:rPr>
              <a:t>博通出货量与营收</a:t>
            </a:r>
            <a:endParaRPr lang="zh-TW" altLang="en-US" sz="3200" b="1" spc="150">
              <a:solidFill>
                <a:schemeClr val="bg1"/>
              </a:solidFill>
              <a:latin typeface="+mn-ea"/>
              <a:cs typeface="+mn-ea"/>
              <a:sym typeface="Arial" panose="020B0604020202090204" pitchFamily="34" charset="0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972185" y="1706880"/>
          <a:ext cx="9398635" cy="2993390"/>
        </p:xfrm>
        <a:graphic>
          <a:graphicData uri="http://schemas.openxmlformats.org/drawingml/2006/table">
            <a:tbl>
              <a:tblPr/>
              <a:tblGrid>
                <a:gridCol w="2545715"/>
                <a:gridCol w="1332230"/>
                <a:gridCol w="1331595"/>
                <a:gridCol w="1332230"/>
                <a:gridCol w="1331595"/>
                <a:gridCol w="1525270"/>
              </a:tblGrid>
              <a:tr h="594995">
                <a:tc gridSpan="6">
                  <a:txBody>
                    <a:bodyPr/>
                    <a:p>
                      <a:pPr algn="l" fontAlgn="ctr"/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博通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AI/ASIC</a:t>
                      </a:r>
                      <a:r>
                        <a:rPr lang="zh-CN" altLang="en-US" sz="18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出货与营收预测</a:t>
                      </a:r>
                      <a:endParaRPr lang="zh-CN" altLang="en-US" sz="18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75615">
                <a:tc>
                  <a:txBody>
                    <a:bodyPr/>
                    <a:p>
                      <a:pPr algn="l" fontAlgn="ctr"/>
                      <a:endParaRPr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2023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2024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2025(e)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2026(e)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2027(e)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47434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CoWoS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数量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(TSMC)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30,000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65,000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95,000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160,000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300,000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47561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CoWoS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增涨率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116.7%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46.2%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68.4%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87.5%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  <a:tr h="47561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ASIC</a:t>
                      </a:r>
                      <a:r>
                        <a:rPr lang="zh-TW" altLang="en-US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营收不含</a:t>
                      </a:r>
                      <a:r>
                        <a:rPr lang="en-US" altLang="zh-TW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Swtich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 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/ 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亿美元 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25.0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80.4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115.0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200.0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450.0 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E1F4"/>
                    </a:solidFill>
                  </a:tcPr>
                </a:tc>
              </a:tr>
              <a:tr h="497205"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ASIC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营收增长率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(</a:t>
                      </a:r>
                      <a:r>
                        <a:rPr lang="zh-TW" altLang="en-US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不含</a:t>
                      </a:r>
                      <a:r>
                        <a:rPr lang="en-US" altLang="zh-TW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Swtich)</a:t>
                      </a:r>
                      <a:endParaRPr lang="en-US" altLang="zh-TW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221.6%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43.0%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73.9%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125.0%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3F2D9"/>
                    </a:solidFill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3840479" y="1929432"/>
            <a:ext cx="4511040" cy="76835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dist"/>
            <a:r>
              <a:rPr lang="en-US" altLang="zh-CN" sz="4400" dirty="0">
                <a:solidFill>
                  <a:schemeClr val="bg1"/>
                </a:solidFill>
                <a:effectLst>
                  <a:outerShdw blurRad="177800" dist="635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90204" pitchFamily="34" charset="0"/>
                <a:ea typeface="微软雅黑" panose="020B0503020204020204" charset="-122"/>
                <a:sym typeface="Arial" panose="020B0604020202090204" pitchFamily="34" charset="0"/>
              </a:rPr>
              <a:t>2025</a:t>
            </a:r>
            <a:endParaRPr lang="en-US" altLang="zh-CN" sz="4400" dirty="0">
              <a:solidFill>
                <a:schemeClr val="bg1"/>
              </a:solidFill>
              <a:effectLst>
                <a:outerShdw blurRad="177800" dist="635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90204" pitchFamily="34" charset="0"/>
              <a:ea typeface="微软雅黑" panose="020B0503020204020204" charset="-122"/>
              <a:sym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409027" y="2819632"/>
            <a:ext cx="7373946" cy="1015663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ym typeface="Arial" panose="020B0604020202090204" pitchFamily="34" charset="0"/>
              </a:rPr>
              <a:t>感谢您的观看</a:t>
            </a:r>
            <a:br>
              <a:rPr lang="zh-CN" altLang="en-US" dirty="0">
                <a:sym typeface="Arial" panose="020B0604020202090204" pitchFamily="34" charset="0"/>
              </a:rPr>
            </a:br>
            <a:endParaRPr lang="zh-CN" altLang="en-US" dirty="0">
              <a:sym typeface="Arial" panose="020B060402020209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5340" y="3650615"/>
            <a:ext cx="10478770" cy="9620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TW" altLang="zh-CN" sz="2200" dirty="0">
                <a:solidFill>
                  <a:schemeClr val="bg1"/>
                </a:solidFill>
                <a:sym typeface="Arial" panose="020B0604020202090204" pitchFamily="34" charset="0"/>
              </a:rPr>
              <a:t>本</a:t>
            </a:r>
            <a:r>
              <a:rPr lang="en-US" altLang="zh-TW" sz="2200" dirty="0">
                <a:solidFill>
                  <a:schemeClr val="bg1"/>
                </a:solidFill>
                <a:sym typeface="Arial" panose="020B0604020202090204" pitchFamily="34" charset="0"/>
              </a:rPr>
              <a:t>PPT</a:t>
            </a:r>
            <a:r>
              <a:rPr lang="zh-TW" altLang="en-US" sz="2200" dirty="0">
                <a:solidFill>
                  <a:schemeClr val="bg1"/>
                </a:solidFill>
                <a:sym typeface="Arial" panose="020B0604020202090204" pitchFamily="34" charset="0"/>
              </a:rPr>
              <a:t>内容均取材自公开讯息，不涉及相关公司机密</a:t>
            </a:r>
            <a:r>
              <a:rPr lang="en-US" altLang="zh-TW" sz="2200" dirty="0">
                <a:solidFill>
                  <a:schemeClr val="bg1"/>
                </a:solidFill>
                <a:sym typeface="Arial" panose="020B0604020202090204" pitchFamily="34" charset="0"/>
              </a:rPr>
              <a:t>  ,  </a:t>
            </a:r>
            <a:r>
              <a:rPr lang="zh-TW" altLang="en-US" sz="2200" dirty="0">
                <a:solidFill>
                  <a:schemeClr val="bg1"/>
                </a:solidFill>
                <a:sym typeface="Arial" panose="020B0604020202090204" pitchFamily="34" charset="0"/>
              </a:rPr>
              <a:t>仅供参考</a:t>
            </a:r>
            <a:endParaRPr lang="zh-TW" altLang="en-US" sz="2200" dirty="0">
              <a:solidFill>
                <a:schemeClr val="bg1"/>
              </a:solidFill>
              <a:sym typeface="Arial" panose="020B060402020209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3535" y="-920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870" y="4109720"/>
            <a:ext cx="7432675" cy="25984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2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3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SLIDE_BACKGROUND_TYPE" val="general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BACKGROUND_TYPE" val="general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SLIDE_BACKGROUND_TYPE" val="general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SLIDE_BACKGROUND_TYPE" val="general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BACKGROUND_TYPE" val="general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BK_DARK_LIGHT" val="1"/>
</p:tagLst>
</file>

<file path=ppt/tags/tag7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LAYERLEVEL" val="1"/>
  <p:tag name="KSO_WM_TAG_VERSION" val="1.0"/>
  <p:tag name="KSO_WM_BEAUTIFY_FLAG" val="#wm#"/>
  <p:tag name="KSO_WM_UNIT_BK_DARK_LIGHT" val="1"/>
</p:tagLst>
</file>

<file path=ppt/tags/tag87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leftRigh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LAYERLEVEL" val="1"/>
  <p:tag name="KSO_WM_TAG_VERSION" val="1.0"/>
  <p:tag name="KSO_WM_BEAUTIFY_FLAG" val="#wm#"/>
  <p:tag name="KSO_WM_UNIT_BK_DARK_LIGHT" val="1"/>
</p:tagLst>
</file>

<file path=ppt/tags/tag95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topBottom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  <p:tag name="KSO_WM_SLIDE_BK_DARK_LIGHT" val="1"/>
  <p:tag name="KSO_WM_UNIT_BK_DARK_LIGHT" val="1"/>
</p:tagLst>
</file>

<file path=ppt/tags/tag103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1"/>
</p:tagLst>
</file>

<file path=ppt/tags/tag104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1"/>
</p:tagLst>
</file>

<file path=ppt/tags/tag105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1"/>
</p:tagLst>
</file>

<file path=ppt/tags/tag106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1"/>
</p:tagLst>
</file>

<file path=ppt/tags/tag107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1"/>
</p:tagLst>
</file>

<file path=ppt/tags/tag108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1"/>
</p:tagLst>
</file>

<file path=ppt/tags/tag109.xml><?xml version="1.0" encoding="utf-8"?>
<p:tagLst xmlns:p="http://schemas.openxmlformats.org/presentationml/2006/main">
  <p:tag name="KSO_WM_SLIDE_BACKGROUND_TYPE" val="bottomTop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K_DARK_LIGHT" val="1"/>
</p:tagLst>
</file>

<file path=ppt/tags/tag110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  <p:tag name="KSO_WM_UNIT_BK_DARK_LIGHT" val="1"/>
</p:tagLst>
</file>

<file path=ppt/tags/tag112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navigation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LAYERLEVEL" val="1"/>
  <p:tag name="KSO_WM_TAG_VERSION" val="1.0"/>
  <p:tag name="KSO_WM_BEAUTIFY_FLAG" val="#wm#"/>
  <p:tag name="KSO_WM_UNIT_BK_DARK_LIGHT" val="1"/>
</p:tagLst>
</file>

<file path=ppt/tags/tag121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29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29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TEMPLATE_SUBCATEGORY" val="0"/>
  <p:tag name="KSO_WM_TEMPLATE_COLOR_TYPE" val="1"/>
  <p:tag name="KSO_WM_TAG_VERSION" val="1.0"/>
  <p:tag name="KSO_WM_BEAUTIFY_FLAG" val="#wm#"/>
  <p:tag name="KSO_WM_TEMPLATE_CATEGORY" val="custom"/>
  <p:tag name="KSO_WM_TEMPLATE_INDEX" val="20205291"/>
  <p:tag name="KSO_WM_TEMPLATE_MASTER_TYPE" val="1"/>
  <p:tag name="KSO_WM_TEMPLATE_THUMBS_INDEX" val="1、4、7、8、9、12、15、16、17、18、19、20、21、22、24"/>
  <p:tag name="KSO_WM_TEMPLATE_MASTER_THUMB_INDEX" val="1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5291_1*i*1"/>
  <p:tag name="KSO_WM_TEMPLATE_CATEGORY" val="custom"/>
  <p:tag name="KSO_WM_TEMPLATE_INDEX" val="20205291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ISCONTENTSTITLE" val="0"/>
  <p:tag name="KSO_WM_UNIT_ISNUMDGMTITLE" val="0"/>
  <p:tag name="KSO_WM_UNIT_PRESET_TEXT" val="蓝色渐变通用PPT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291_1*a*1"/>
  <p:tag name="KSO_WM_TEMPLATE_CATEGORY" val="custom"/>
  <p:tag name="KSO_WM_TEMPLATE_INDEX" val="20205291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3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291_1*b*1"/>
  <p:tag name="KSO_WM_TEMPLATE_CATEGORY" val="custom"/>
  <p:tag name="KSO_WM_TEMPLATE_INDEX" val="20205291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ID" val="custom20205291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291"/>
  <p:tag name="KSO_WM_SLIDE_LAYOUT" val="a_b"/>
  <p:tag name="KSO_WM_SLIDE_LAYOUT_CNT" val="1_1"/>
  <p:tag name="KSO_WM_TEMPLATE_THUMBS_INDEX" val="1、4、7、8、9、12、15、16、17、18、19、20、21、22、24"/>
  <p:tag name="KSO_WM_TEMPLATE_MASTER_THUMB_INDEX" val="12"/>
</p:tagLst>
</file>

<file path=ppt/tags/tag138.xml><?xml version="1.0" encoding="utf-8"?>
<p:tagLst xmlns:p="http://schemas.openxmlformats.org/presentationml/2006/main">
  <p:tag name="KSO_WM_UNIT_PRESET_TEXT" val="PART 01"/>
  <p:tag name="KSO_WM_UNIT_NOCLEAR" val="0"/>
  <p:tag name="KSO_WM_UNIT_VALUE" val="5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5291_7*e*1"/>
  <p:tag name="KSO_WM_TEMPLATE_CATEGORY" val="custom"/>
  <p:tag name="KSO_WM_TEMPLATE_INDEX" val="20205291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291_7*a*1"/>
  <p:tag name="KSO_WM_TEMPLATE_CATEGORY" val="custom"/>
  <p:tag name="KSO_WM_TEMPLATE_INDEX" val="20205291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SLIDE_ID" val="custom20205291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5291"/>
  <p:tag name="KSO_WM_SLIDE_LAYOUT" val="a_b_e"/>
  <p:tag name="KSO_WM_SLIDE_LAYOUT_CNT" val="1_1_1"/>
</p:tagLst>
</file>

<file path=ppt/tags/tag141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42.xml><?xml version="1.0" encoding="utf-8"?>
<p:tagLst xmlns:p="http://schemas.openxmlformats.org/presentationml/2006/main">
  <p:tag name="TABLE_ENDDRAG_ORIGIN_RECT" val="816*287"/>
  <p:tag name="TABLE_ENDDRAG_RECT" val="41*111*816*287"/>
</p:tagLst>
</file>

<file path=ppt/tags/tag143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144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45.xml><?xml version="1.0" encoding="utf-8"?>
<p:tagLst xmlns:p="http://schemas.openxmlformats.org/presentationml/2006/main">
  <p:tag name="TABLE_ENDDRAG_ORIGIN_RECT" val="740*361"/>
  <p:tag name="TABLE_ENDDRAG_RECT" val="90*104*740*361"/>
</p:tagLst>
</file>

<file path=ppt/tags/tag146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147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48.xml><?xml version="1.0" encoding="utf-8"?>
<p:tagLst xmlns:p="http://schemas.openxmlformats.org/presentationml/2006/main">
  <p:tag name="TABLE_ENDDRAG_ORIGIN_RECT" val="803*307"/>
  <p:tag name="TABLE_ENDDRAG_RECT" val="64*110*803*307"/>
</p:tagLst>
</file>

<file path=ppt/tags/tag149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150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51.xml><?xml version="1.0" encoding="utf-8"?>
<p:tagLst xmlns:p="http://schemas.openxmlformats.org/presentationml/2006/main">
  <p:tag name="TABLE_ENDDRAG_ORIGIN_RECT" val="581*388"/>
  <p:tag name="TABLE_ENDDRAG_RECT" val="43*101*581*388"/>
</p:tagLst>
</file>

<file path=ppt/tags/tag152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153.xml><?xml version="1.0" encoding="utf-8"?>
<p:tagLst xmlns:p="http://schemas.openxmlformats.org/presentationml/2006/main">
  <p:tag name="KSO_WM_UNIT_PRESET_TEXT" val="PART 01"/>
  <p:tag name="KSO_WM_UNIT_NOCLEAR" val="0"/>
  <p:tag name="KSO_WM_UNIT_VALUE" val="5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5291_7*e*1"/>
  <p:tag name="KSO_WM_TEMPLATE_CATEGORY" val="custom"/>
  <p:tag name="KSO_WM_TEMPLATE_INDEX" val="20205291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291_7*a*1"/>
  <p:tag name="KSO_WM_TEMPLATE_CATEGORY" val="custom"/>
  <p:tag name="KSO_WM_TEMPLATE_INDEX" val="20205291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SLIDE_ID" val="custom20205291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5291"/>
  <p:tag name="KSO_WM_SLIDE_LAYOUT" val="a_b_e"/>
  <p:tag name="KSO_WM_SLIDE_LAYOUT_CNT" val="1_1_1"/>
</p:tagLst>
</file>

<file path=ppt/tags/tag156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57.xml><?xml version="1.0" encoding="utf-8"?>
<p:tagLst xmlns:p="http://schemas.openxmlformats.org/presentationml/2006/main">
  <p:tag name="TABLE_ENDDRAG_ORIGIN_RECT" val="744*359"/>
  <p:tag name="TABLE_ENDDRAG_RECT" val="78*89*744*359"/>
</p:tagLst>
</file>

<file path=ppt/tags/tag158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159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60.xml><?xml version="1.0" encoding="utf-8"?>
<p:tagLst xmlns:p="http://schemas.openxmlformats.org/presentationml/2006/main">
  <p:tag name="TABLE_ENDDRAG_ORIGIN_RECT" val="492*503"/>
  <p:tag name="TABLE_ENDDRAG_RECT" val="386*15*492*503"/>
</p:tagLst>
</file>

<file path=ppt/tags/tag161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162.xml><?xml version="1.0" encoding="utf-8"?>
<p:tagLst xmlns:p="http://schemas.openxmlformats.org/presentationml/2006/main">
  <p:tag name="KSO_WM_UNIT_PRESET_TEXT" val="PART 01"/>
  <p:tag name="KSO_WM_UNIT_NOCLEAR" val="0"/>
  <p:tag name="KSO_WM_UNIT_VALUE" val="5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05291_7*e*1"/>
  <p:tag name="KSO_WM_TEMPLATE_CATEGORY" val="custom"/>
  <p:tag name="KSO_WM_TEMPLATE_INDEX" val="20205291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291_7*a*1"/>
  <p:tag name="KSO_WM_TEMPLATE_CATEGORY" val="custom"/>
  <p:tag name="KSO_WM_TEMPLATE_INDEX" val="20205291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SLIDE_ID" val="custom20205291_7"/>
  <p:tag name="KSO_WM_TEMPLATE_SUBCATEGORY" val="0"/>
  <p:tag name="KSO_WM_TEMPLATE_MASTER_TYPE" val="1"/>
  <p:tag name="KSO_WM_TEMPLATE_COLOR_TYPE" val="1"/>
  <p:tag name="KSO_WM_SLIDE_TYPE" val="sectionTitle"/>
  <p:tag name="KSO_WM_SLIDE_SUBTYPE" val="pureTxt"/>
  <p:tag name="KSO_WM_SLIDE_ITEM_CNT" val="0"/>
  <p:tag name="KSO_WM_SLIDE_INDEX" val="7"/>
  <p:tag name="KSO_WM_TAG_VERSION" val="1.0"/>
  <p:tag name="KSO_WM_BEAUTIFY_FLAG" val="#wm#"/>
  <p:tag name="KSO_WM_TEMPLATE_CATEGORY" val="custom"/>
  <p:tag name="KSO_WM_TEMPLATE_INDEX" val="20205291"/>
  <p:tag name="KSO_WM_SLIDE_LAYOUT" val="a_b_e"/>
  <p:tag name="KSO_WM_SLIDE_LAYOUT_CNT" val="1_1_1"/>
</p:tagLst>
</file>

<file path=ppt/tags/tag165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66.xml><?xml version="1.0" encoding="utf-8"?>
<p:tagLst xmlns:p="http://schemas.openxmlformats.org/presentationml/2006/main">
  <p:tag name="TABLE_ENDDRAG_ORIGIN_RECT" val="652*190"/>
  <p:tag name="TABLE_ENDDRAG_RECT" val="88*149*652*190"/>
</p:tagLst>
</file>

<file path=ppt/tags/tag167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168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69.xml><?xml version="1.0" encoding="utf-8"?>
<p:tagLst xmlns:p="http://schemas.openxmlformats.org/presentationml/2006/main">
  <p:tag name="TABLE_ENDDRAG_ORIGIN_RECT" val="699*262"/>
  <p:tag name="TABLE_ENDDRAG_RECT" val="89*160*699*262"/>
</p:tagLst>
</file>

<file path=ppt/tags/tag170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171.xml><?xml version="1.0" encoding="utf-8"?>
<p:tagLst xmlns:p="http://schemas.openxmlformats.org/presentationml/2006/main">
  <p:tag name="KSO_WM_UNIT_DEFAULT_FONT" val="32;36;4"/>
  <p:tag name="KSO_WM_UNIT_BLOCK" val="0"/>
  <p:tag name="KSO_WM_UNIT_ISCONTENTSTITLE" val="0"/>
  <p:tag name="KSO_WM_UNIT_ISNUMDGMTITLE" val="0"/>
  <p:tag name="KSO_WM_UNIT_PRESET_TEXT" val="单击此处添加标题"/>
  <p:tag name="KSO_WM_UNIT_NOCLEAR" val="0"/>
  <p:tag name="KSO_WM_UNIT_VALUE" val="52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2"/>
  <p:tag name="KSO_WM_UNIT_TYPE" val="a"/>
  <p:tag name="KSO_WM_UNIT_INDEX" val="1"/>
  <p:tag name="KSO_WM_UNIT_ID" val="custom20205291_10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TEXT_FILL_FORE_SCHEMECOLOR_INDEX" val="14"/>
  <p:tag name="KSO_WM_UNIT_TEXT_FILL_TYPE" val="1"/>
  <p:tag name="KSO_WM_UNIT_USESOURCEFORMAT_APPLY" val="1"/>
</p:tagLst>
</file>

<file path=ppt/tags/tag172.xml><?xml version="1.0" encoding="utf-8"?>
<p:tagLst xmlns:p="http://schemas.openxmlformats.org/presentationml/2006/main">
  <p:tag name="TABLE_ENDDRAG_ORIGIN_RECT" val="636*188"/>
  <p:tag name="TABLE_ENDDRAG_RECT" val="76*134*636*188"/>
</p:tagLst>
</file>

<file path=ppt/tags/tag173.xml><?xml version="1.0" encoding="utf-8"?>
<p:tagLst xmlns:p="http://schemas.openxmlformats.org/presentationml/2006/main">
  <p:tag name="KSO_WM_SLIDE_ID" val="custom20205291_10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2"/>
  <p:tag name="KSO_WM_SLIDE_INDEX" val="10"/>
  <p:tag name="KSO_WM_SLIDE_SIZE" val="477.918*205.608"/>
  <p:tag name="KSO_WM_SLIDE_POSITION" val="241.041*213.616"/>
  <p:tag name="KSO_WM_DIAGRAM_GROUP_CODE" val="l1-2"/>
  <p:tag name="KSO_WM_SLIDE_DIAGTYPE" val="l"/>
  <p:tag name="KSO_WM_TAG_VERSION" val="1.0"/>
  <p:tag name="KSO_WM_BEAUTIFY_FLAG" val="#wm#"/>
  <p:tag name="KSO_WM_TEMPLATE_CATEGORY" val="custom"/>
  <p:tag name="KSO_WM_TEMPLATE_INDEX" val="20205291"/>
  <p:tag name="KSO_WM_SLIDE_LAYOUT" val="a_l"/>
  <p:tag name="KSO_WM_SLIDE_LAYOUT_CNT" val="1_1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5291_24*i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PRESET_TEXT" val="202X"/>
</p:tagLst>
</file>

<file path=ppt/tags/tag175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291_24*a*1"/>
  <p:tag name="KSO_WM_TEMPLATE_CATEGORY" val="custom"/>
  <p:tag name="KSO_WM_TEMPLATE_INDEX" val="20205291"/>
  <p:tag name="KSO_WM_UNIT_LAYERLEVEL" val="1"/>
  <p:tag name="KSO_WM_TAG_VERSION" val="1.0"/>
  <p:tag name="KSO_WM_BEAUTIFY_FLAG" val="#wm#"/>
  <p:tag name="KSO_WM_UNIT_PRESET_TEXT" val="感谢您的观看"/>
</p:tagLst>
</file>

<file path=ppt/tags/tag176.xml><?xml version="1.0" encoding="utf-8"?>
<p:tagLst xmlns:p="http://schemas.openxmlformats.org/presentationml/2006/main">
  <p:tag name="KSO_WM_SLIDE_ID" val="custom20205291_24"/>
  <p:tag name="KSO_WM_TEMPLATE_SUBCATEGORY" val="0"/>
  <p:tag name="KSO_WM_TEMPLATE_MASTER_TYPE" val="1"/>
  <p:tag name="KSO_WM_TEMPLATE_COLOR_TYPE" val="1"/>
  <p:tag name="KSO_WM_SLIDE_TYPE" val="endPage"/>
  <p:tag name="KSO_WM_SLIDE_SUBTYPE" val="pureTxt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205291"/>
  <p:tag name="KSO_WM_SLIDE_LAYOUT" val="a_b"/>
  <p:tag name="KSO_WM_SLIDE_LAYOUT_CNT" val="1_1"/>
</p:tagLst>
</file>

<file path=ppt/tags/tag177.xml><?xml version="1.0" encoding="utf-8"?>
<p:tagLst xmlns:p="http://schemas.openxmlformats.org/presentationml/2006/main">
  <p:tag name="commondata" val="eyJoZGlkIjoiZmRmNmVhYzY4NzE5OWI5YTAyMDYyODY4ZWYwZTVhMTkifQ=="/>
</p:tagLst>
</file>

<file path=ppt/theme/theme1.xml><?xml version="1.0" encoding="utf-8"?>
<a:theme xmlns:a="http://schemas.openxmlformats.org/drawingml/2006/main" name="1_Office 主题​​">
  <a:themeElements>
    <a:clrScheme name="自定义 9">
      <a:dk1>
        <a:sysClr val="windowText" lastClr="000000"/>
      </a:dk1>
      <a:lt1>
        <a:sysClr val="window" lastClr="FFFFFF"/>
      </a:lt1>
      <a:dk2>
        <a:srgbClr val="45527B"/>
      </a:dk2>
      <a:lt2>
        <a:srgbClr val="FFFFFF"/>
      </a:lt2>
      <a:accent1>
        <a:srgbClr val="4F68AC"/>
      </a:accent1>
      <a:accent2>
        <a:srgbClr val="4E76A8"/>
      </a:accent2>
      <a:accent3>
        <a:srgbClr val="4D84A4"/>
      </a:accent3>
      <a:accent4>
        <a:srgbClr val="4D939F"/>
      </a:accent4>
      <a:accent5>
        <a:srgbClr val="4CA19B"/>
      </a:accent5>
      <a:accent6>
        <a:srgbClr val="EDB11B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10390</Words>
  <Application>WPS 表格</Application>
  <PresentationFormat>宽屏</PresentationFormat>
  <Paragraphs>2086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汉仪旗黑</vt:lpstr>
      <vt:lpstr>汉仪旗黑-85S</vt:lpstr>
      <vt:lpstr>汉仪中黑KW</vt:lpstr>
      <vt:lpstr>Segoe UI</vt:lpstr>
      <vt:lpstr>等线</vt:lpstr>
      <vt:lpstr>微软雅黑</vt:lpstr>
      <vt:lpstr>微软雅黑</vt:lpstr>
      <vt:lpstr>宋体</vt:lpstr>
      <vt:lpstr>Arial Unicode MS</vt:lpstr>
      <vt:lpstr>Calibri</vt:lpstr>
      <vt:lpstr>汉仪书宋二KW</vt:lpstr>
      <vt:lpstr>汉仪中等线KW</vt:lpstr>
      <vt:lpstr>汉仪旗黑-85S</vt:lpstr>
      <vt:lpstr>等线</vt:lpstr>
      <vt:lpstr>1_Office 主题​​</vt:lpstr>
      <vt:lpstr>H2全球半导体展望</vt:lpstr>
      <vt:lpstr>台积电25&amp;26展望</vt:lpstr>
      <vt:lpstr>PowerPoint 演示文稿</vt:lpstr>
      <vt:lpstr>PowerPoint 演示文稿</vt:lpstr>
      <vt:lpstr>PowerPoint 演示文稿</vt:lpstr>
      <vt:lpstr>PowerPoint 演示文稿</vt:lpstr>
      <vt:lpstr>台积电CoWoS与AI</vt:lpstr>
      <vt:lpstr>PowerPoint 演示文稿</vt:lpstr>
      <vt:lpstr>PowerPoint 演示文稿</vt:lpstr>
      <vt:lpstr>GPU &amp; ASIC</vt:lpstr>
      <vt:lpstr>PowerPoint 演示文稿</vt:lpstr>
      <vt:lpstr>PowerPoint 演示文稿</vt:lpstr>
      <vt:lpstr>PowerPoint 演示文稿</vt:lpstr>
      <vt:lpstr>感谢您的观看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Surface Book</dc:creator>
  <cp:lastModifiedBy>Ranni的群星</cp:lastModifiedBy>
  <cp:revision>45</cp:revision>
  <dcterms:created xsi:type="dcterms:W3CDTF">2025-11-11T07:44:53Z</dcterms:created>
  <dcterms:modified xsi:type="dcterms:W3CDTF">2025-11-11T07:44:53Z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E5189B67F18ACBB743E012699681725D_43</vt:lpwstr>
  </property>
  <property fmtid="{D5CDD505-2E9C-101B-9397-08002B2CF9AE}" pid="3" name="KSOProductBuildVer">
    <vt:lpwstr>2052-6.12.1.8902</vt:lpwstr>
  </property>
</Properties>
</file>